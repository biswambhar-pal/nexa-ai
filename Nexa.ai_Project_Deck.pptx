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handoutMasterIdLst>
    <p:handoutMasterId r:id="rId13"/>
  </p:handoutMasterIdLst>
  <p:sldIdLst>
    <p:sldId id="272" r:id="rId2"/>
    <p:sldId id="266" r:id="rId3"/>
    <p:sldId id="267" r:id="rId4"/>
    <p:sldId id="268" r:id="rId5"/>
    <p:sldId id="269" r:id="rId6"/>
    <p:sldId id="261" r:id="rId7"/>
    <p:sldId id="262" r:id="rId8"/>
    <p:sldId id="270" r:id="rId9"/>
    <p:sldId id="271"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8D4"/>
    <a:srgbClr val="107C10"/>
    <a:srgbClr val="DCE6F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5" d="100"/>
          <a:sy n="75" d="100"/>
        </p:scale>
        <p:origin x="874"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A063105-753D-06F7-7AB4-926793E93AE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EC01F4B3-0CCE-33F6-7E97-B6424A9235D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835B86-2251-42C6-AC97-740A2C0CED62}" type="datetimeFigureOut">
              <a:rPr lang="en-IN" smtClean="0"/>
              <a:t>13-06-2026</a:t>
            </a:fld>
            <a:endParaRPr lang="en-IN"/>
          </a:p>
        </p:txBody>
      </p:sp>
      <p:sp>
        <p:nvSpPr>
          <p:cNvPr id="4" name="Footer Placeholder 3">
            <a:extLst>
              <a:ext uri="{FF2B5EF4-FFF2-40B4-BE49-F238E27FC236}">
                <a16:creationId xmlns:a16="http://schemas.microsoft.com/office/drawing/2014/main" id="{8351A8AA-3D91-D4B5-288F-401EBE002D8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Nexa.ai | Microsoft Build AI | Theme 01: AI at Work — Productivity &amp; Teamwork Reimagined</a:t>
            </a:r>
            <a:endParaRPr lang="en-IN"/>
          </a:p>
        </p:txBody>
      </p:sp>
      <p:sp>
        <p:nvSpPr>
          <p:cNvPr id="5" name="Slide Number Placeholder 4">
            <a:extLst>
              <a:ext uri="{FF2B5EF4-FFF2-40B4-BE49-F238E27FC236}">
                <a16:creationId xmlns:a16="http://schemas.microsoft.com/office/drawing/2014/main" id="{32E552B5-2C93-3653-1D27-E1394C1A91D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1B88849-0F30-4377-AA2F-FDC302018E30}" type="slidenum">
              <a:rPr lang="en-IN" smtClean="0"/>
              <a:t>‹#›</a:t>
            </a:fld>
            <a:endParaRPr lang="en-IN"/>
          </a:p>
        </p:txBody>
      </p:sp>
    </p:spTree>
    <p:extLst>
      <p:ext uri="{BB962C8B-B14F-4D97-AF65-F5344CB8AC3E}">
        <p14:creationId xmlns:p14="http://schemas.microsoft.com/office/powerpoint/2010/main" val="353117715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16838C-6892-4F5A-9D88-C731B6A1A3AA}" type="datetimeFigureOut">
              <a:rPr lang="en-IN" smtClean="0"/>
              <a:t>13-06-2026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Nexa.ai | Microsoft Build AI | Theme 01: AI at Work — Productivity &amp; Teamwork Reimagined</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85CCF6-3669-484F-98E8-2CB63C4DA235}" type="slidenum">
              <a:rPr lang="en-IN" smtClean="0"/>
              <a:t>‹#›</a:t>
            </a:fld>
            <a:endParaRPr lang="en-IN"/>
          </a:p>
        </p:txBody>
      </p:sp>
    </p:spTree>
    <p:extLst>
      <p:ext uri="{BB962C8B-B14F-4D97-AF65-F5344CB8AC3E}">
        <p14:creationId xmlns:p14="http://schemas.microsoft.com/office/powerpoint/2010/main" val="208710620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385CCF6-3669-484F-98E8-2CB63C4DA235}" type="slidenum">
              <a:rPr lang="en-IN" smtClean="0"/>
              <a:t>10</a:t>
            </a:fld>
            <a:endParaRPr lang="en-IN"/>
          </a:p>
        </p:txBody>
      </p:sp>
    </p:spTree>
    <p:extLst>
      <p:ext uri="{BB962C8B-B14F-4D97-AF65-F5344CB8AC3E}">
        <p14:creationId xmlns:p14="http://schemas.microsoft.com/office/powerpoint/2010/main" val="2917651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4B9DEFB-98F9-4174-9CEA-2F5F8859A2D0}" type="datetime1">
              <a:rPr lang="en-US" smtClean="0"/>
              <a:t>6/13/2026</a:t>
            </a:fld>
            <a:endParaRPr lang="en-US"/>
          </a:p>
        </p:txBody>
      </p:sp>
      <p:sp>
        <p:nvSpPr>
          <p:cNvPr id="5" name="Footer Placeholder 4"/>
          <p:cNvSpPr>
            <a:spLocks noGrp="1"/>
          </p:cNvSpPr>
          <p:nvPr>
            <p:ph type="ftr" sz="quarter" idx="11"/>
          </p:nvPr>
        </p:nvSpPr>
        <p:spPr/>
        <p:txBody>
          <a:bodyPr/>
          <a:lstStyle/>
          <a:p>
            <a:r>
              <a:rPr lang="en-US"/>
              <a:t>Nexa.ai | Microsoft Build AI | Theme 01: AI at Work — Productivity &amp; Teamwork Reimagined</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14C81D5-3177-45F1-983E-4C7B0674B4AE}" type="datetime1">
              <a:rPr lang="en-US" smtClean="0"/>
              <a:t>6/13/2026</a:t>
            </a:fld>
            <a:endParaRPr lang="en-US"/>
          </a:p>
        </p:txBody>
      </p:sp>
      <p:sp>
        <p:nvSpPr>
          <p:cNvPr id="5" name="Footer Placeholder 4"/>
          <p:cNvSpPr>
            <a:spLocks noGrp="1"/>
          </p:cNvSpPr>
          <p:nvPr>
            <p:ph type="ftr" sz="quarter" idx="11"/>
          </p:nvPr>
        </p:nvSpPr>
        <p:spPr/>
        <p:txBody>
          <a:bodyPr/>
          <a:lstStyle/>
          <a:p>
            <a:r>
              <a:rPr lang="en-US"/>
              <a:t>Nexa.ai | Microsoft Build AI | Theme 01: AI at Work — Productivity &amp; Teamwork Reimagined</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401AAA-736A-4E28-A921-F7D657E85B4D}" type="datetime1">
              <a:rPr lang="en-US" smtClean="0"/>
              <a:t>6/13/2026</a:t>
            </a:fld>
            <a:endParaRPr lang="en-US"/>
          </a:p>
        </p:txBody>
      </p:sp>
      <p:sp>
        <p:nvSpPr>
          <p:cNvPr id="5" name="Footer Placeholder 4"/>
          <p:cNvSpPr>
            <a:spLocks noGrp="1"/>
          </p:cNvSpPr>
          <p:nvPr>
            <p:ph type="ftr" sz="quarter" idx="11"/>
          </p:nvPr>
        </p:nvSpPr>
        <p:spPr/>
        <p:txBody>
          <a:bodyPr/>
          <a:lstStyle/>
          <a:p>
            <a:r>
              <a:rPr lang="en-US"/>
              <a:t>Nexa.ai | Microsoft Build AI | Theme 01: AI at Work — Productivity &amp; Teamwork Reimagined</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4CECCC6-1277-4BC9-9CC1-AD5C8F18BAAC}" type="datetime1">
              <a:rPr lang="en-US" smtClean="0"/>
              <a:t>6/13/2026</a:t>
            </a:fld>
            <a:endParaRPr lang="en-US"/>
          </a:p>
        </p:txBody>
      </p:sp>
      <p:sp>
        <p:nvSpPr>
          <p:cNvPr id="6" name="Footer Placeholder 5"/>
          <p:cNvSpPr>
            <a:spLocks noGrp="1"/>
          </p:cNvSpPr>
          <p:nvPr>
            <p:ph type="ftr" sz="quarter" idx="11"/>
          </p:nvPr>
        </p:nvSpPr>
        <p:spPr/>
        <p:txBody>
          <a:bodyPr/>
          <a:lstStyle/>
          <a:p>
            <a:r>
              <a:rPr lang="en-US"/>
              <a:t>Nexa.ai | Microsoft Build AI | Theme 01: AI at Work — Productivity &amp; Teamwork Reimagined</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C005E54-EE41-4102-BECC-03FDA596B314}" type="datetime1">
              <a:rPr lang="en-US" smtClean="0"/>
              <a:t>6/13/2026</a:t>
            </a:fld>
            <a:endParaRPr lang="en-US"/>
          </a:p>
        </p:txBody>
      </p:sp>
      <p:sp>
        <p:nvSpPr>
          <p:cNvPr id="8" name="Footer Placeholder 7"/>
          <p:cNvSpPr>
            <a:spLocks noGrp="1"/>
          </p:cNvSpPr>
          <p:nvPr>
            <p:ph type="ftr" sz="quarter" idx="11"/>
          </p:nvPr>
        </p:nvSpPr>
        <p:spPr/>
        <p:txBody>
          <a:bodyPr/>
          <a:lstStyle/>
          <a:p>
            <a:r>
              <a:rPr lang="en-US"/>
              <a:t>Nexa.ai | Microsoft Build AI | Theme 01: AI at Work — Productivity &amp; Teamwork Reimagined</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2853211-58A3-4F23-B904-1B75BEC1777A}" type="datetime1">
              <a:rPr lang="en-US" smtClean="0"/>
              <a:t>6/13/2026</a:t>
            </a:fld>
            <a:endParaRPr lang="en-US"/>
          </a:p>
        </p:txBody>
      </p:sp>
      <p:sp>
        <p:nvSpPr>
          <p:cNvPr id="4" name="Footer Placeholder 3"/>
          <p:cNvSpPr>
            <a:spLocks noGrp="1"/>
          </p:cNvSpPr>
          <p:nvPr>
            <p:ph type="ftr" sz="quarter" idx="11"/>
          </p:nvPr>
        </p:nvSpPr>
        <p:spPr/>
        <p:txBody>
          <a:bodyPr/>
          <a:lstStyle/>
          <a:p>
            <a:r>
              <a:rPr lang="en-US"/>
              <a:t>Nexa.ai | Microsoft Build AI | Theme 01: AI at Work — Productivity &amp; Teamwork Reimagined</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5574E3-ECB4-405C-BF78-DA353576F24C}" type="datetime1">
              <a:rPr lang="en-US" smtClean="0"/>
              <a:t>6/13/2026</a:t>
            </a:fld>
            <a:endParaRPr lang="en-US"/>
          </a:p>
        </p:txBody>
      </p:sp>
      <p:sp>
        <p:nvSpPr>
          <p:cNvPr id="3" name="Footer Placeholder 2"/>
          <p:cNvSpPr>
            <a:spLocks noGrp="1"/>
          </p:cNvSpPr>
          <p:nvPr>
            <p:ph type="ftr" sz="quarter" idx="11"/>
          </p:nvPr>
        </p:nvSpPr>
        <p:spPr/>
        <p:txBody>
          <a:bodyPr/>
          <a:lstStyle/>
          <a:p>
            <a:r>
              <a:rPr lang="en-US"/>
              <a:t>Nexa.ai | Microsoft Build AI | Theme 01: AI at Work — Productivity &amp; Teamwork Reimagined</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498E75-D90B-487B-A2E5-78F4B111BDDA}" type="datetime1">
              <a:rPr lang="en-US" smtClean="0"/>
              <a:t>6/13/2026</a:t>
            </a:fld>
            <a:endParaRPr lang="en-US"/>
          </a:p>
        </p:txBody>
      </p:sp>
      <p:sp>
        <p:nvSpPr>
          <p:cNvPr id="6" name="Footer Placeholder 5"/>
          <p:cNvSpPr>
            <a:spLocks noGrp="1"/>
          </p:cNvSpPr>
          <p:nvPr>
            <p:ph type="ftr" sz="quarter" idx="11"/>
          </p:nvPr>
        </p:nvSpPr>
        <p:spPr/>
        <p:txBody>
          <a:bodyPr/>
          <a:lstStyle/>
          <a:p>
            <a:r>
              <a:rPr lang="en-US"/>
              <a:t>Nexa.ai | Microsoft Build AI | Theme 01: AI at Work — Productivity &amp; Teamwork Reimagined</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543E6C-AC22-409A-BFA3-08CBCB9716DB}" type="datetime1">
              <a:rPr lang="en-US" smtClean="0"/>
              <a:t>6/13/2026</a:t>
            </a:fld>
            <a:endParaRPr lang="en-US"/>
          </a:p>
        </p:txBody>
      </p:sp>
      <p:sp>
        <p:nvSpPr>
          <p:cNvPr id="6" name="Footer Placeholder 5"/>
          <p:cNvSpPr>
            <a:spLocks noGrp="1"/>
          </p:cNvSpPr>
          <p:nvPr>
            <p:ph type="ftr" sz="quarter" idx="11"/>
          </p:nvPr>
        </p:nvSpPr>
        <p:spPr/>
        <p:txBody>
          <a:bodyPr/>
          <a:lstStyle/>
          <a:p>
            <a:r>
              <a:rPr lang="en-US"/>
              <a:t>Nexa.ai | Microsoft Build AI | Theme 01: AI at Work — Productivity &amp; Teamwork Reimagined</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60F7E1-C679-4299-9F22-57BB114C9E65}" type="datetime1">
              <a:rPr lang="en-US" smtClean="0"/>
              <a:t>6/13/2026</a:t>
            </a:fld>
            <a:endParaRPr lang="en-US"/>
          </a:p>
        </p:txBody>
      </p:sp>
      <p:sp>
        <p:nvSpPr>
          <p:cNvPr id="5" name="Footer Placeholder 4"/>
          <p:cNvSpPr>
            <a:spLocks noGrp="1"/>
          </p:cNvSpPr>
          <p:nvPr>
            <p:ph type="ftr" sz="quarter" idx="11"/>
          </p:nvPr>
        </p:nvSpPr>
        <p:spPr/>
        <p:txBody>
          <a:bodyPr/>
          <a:lstStyle/>
          <a:p>
            <a:r>
              <a:rPr lang="en-US"/>
              <a:t>Nexa.ai | Microsoft Build AI | Theme 01: AI at Work — Productivity &amp; Teamwork Reimagined</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E7EE4E-4B11-4FEC-816A-07A1F1E9F67A}" type="datetime1">
              <a:rPr lang="en-US" smtClean="0"/>
              <a:t>6/13/2026</a:t>
            </a:fld>
            <a:endParaRPr lang="en-US"/>
          </a:p>
        </p:txBody>
      </p:sp>
      <p:sp>
        <p:nvSpPr>
          <p:cNvPr id="5" name="Footer Placeholder 4"/>
          <p:cNvSpPr>
            <a:spLocks noGrp="1"/>
          </p:cNvSpPr>
          <p:nvPr>
            <p:ph type="ftr" sz="quarter" idx="11"/>
          </p:nvPr>
        </p:nvSpPr>
        <p:spPr/>
        <p:txBody>
          <a:bodyPr/>
          <a:lstStyle/>
          <a:p>
            <a:r>
              <a:rPr lang="en-US"/>
              <a:t>Nexa.ai | Microsoft Build AI | Theme 01: AI at Work — Productivity &amp; Teamwork Reimagined</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4176E5-EB12-4848-B6E1-CC7A4085D876}" type="datetime1">
              <a:rPr lang="en-US" smtClean="0"/>
              <a:t>6/13/2026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Nexa.ai | Microsoft Build AI | Theme 01: AI at Work — Productivity &amp; Teamwork Reimagined</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nexa-ai-enterprise-portal.powerappsportals.com/"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hyperlink" Target="https://github.com/Biswambhar-Pal/nexa-ai" TargetMode="External"/><Relationship Id="rId4" Type="http://schemas.openxmlformats.org/officeDocument/2006/relationships/hyperlink" Target="https://youtu.be/9KQd5s89ts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774746" y="4120756"/>
            <a:ext cx="2423160" cy="347472"/>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ptos"/>
              </a:defRPr>
            </a:pPr>
            <a:r>
              <a:rPr sz="1400" dirty="0"/>
              <a:t>Theme 01 · AI at Work</a:t>
            </a:r>
          </a:p>
        </p:txBody>
      </p:sp>
      <p:sp>
        <p:nvSpPr>
          <p:cNvPr id="9" name="Rounded Rectangle 8"/>
          <p:cNvSpPr/>
          <p:nvPr/>
        </p:nvSpPr>
        <p:spPr>
          <a:xfrm>
            <a:off x="6335065" y="4120756"/>
            <a:ext cx="2359349" cy="347472"/>
          </a:xfrm>
          <a:prstGeom prst="round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ptos"/>
              </a:defRPr>
            </a:pPr>
            <a:r>
              <a:rPr sz="1400" dirty="0"/>
              <a:t>Productivity +</a:t>
            </a:r>
            <a:r>
              <a:rPr lang="en-US" sz="1400" dirty="0"/>
              <a:t> </a:t>
            </a:r>
            <a:r>
              <a:rPr sz="1400" dirty="0"/>
              <a:t>Teamwork</a:t>
            </a:r>
          </a:p>
        </p:txBody>
      </p:sp>
      <p:sp>
        <p:nvSpPr>
          <p:cNvPr id="32" name="TextBox 31"/>
          <p:cNvSpPr txBox="1"/>
          <p:nvPr/>
        </p:nvSpPr>
        <p:spPr>
          <a:xfrm>
            <a:off x="11384280" y="6581648"/>
            <a:ext cx="320040" cy="164592"/>
          </a:xfrm>
          <a:prstGeom prst="rect">
            <a:avLst/>
          </a:prstGeom>
          <a:noFill/>
        </p:spPr>
        <p:txBody>
          <a:bodyPr wrap="square" lIns="0" tIns="0" rIns="0">
            <a:spAutoFit/>
          </a:bodyPr>
          <a:lstStyle/>
          <a:p>
            <a:pPr algn="ctr">
              <a:defRPr sz="750" b="0">
                <a:solidFill>
                  <a:srgbClr val="605E5C"/>
                </a:solidFill>
                <a:latin typeface="Aptos"/>
              </a:defRPr>
            </a:pPr>
            <a:r>
              <a:t>1</a:t>
            </a:r>
          </a:p>
        </p:txBody>
      </p:sp>
      <p:sp>
        <p:nvSpPr>
          <p:cNvPr id="38" name="TextBox 37">
            <a:extLst>
              <a:ext uri="{FF2B5EF4-FFF2-40B4-BE49-F238E27FC236}">
                <a16:creationId xmlns:a16="http://schemas.microsoft.com/office/drawing/2014/main" id="{26D588B4-5AEA-D681-CBBA-053864105D93}"/>
              </a:ext>
            </a:extLst>
          </p:cNvPr>
          <p:cNvSpPr txBox="1"/>
          <p:nvPr/>
        </p:nvSpPr>
        <p:spPr>
          <a:xfrm>
            <a:off x="2225346" y="3492942"/>
            <a:ext cx="7945120" cy="353943"/>
          </a:xfrm>
          <a:prstGeom prst="rect">
            <a:avLst/>
          </a:prstGeom>
          <a:noFill/>
        </p:spPr>
        <p:txBody>
          <a:bodyPr wrap="square">
            <a:spAutoFit/>
          </a:bodyPr>
          <a:lstStyle/>
          <a:p>
            <a:pPr algn="ctr">
              <a:defRPr sz="1700" b="0">
                <a:solidFill>
                  <a:srgbClr val="605E5C"/>
                </a:solidFill>
                <a:latin typeface="Aptos"/>
              </a:defRPr>
            </a:pPr>
            <a:r>
              <a:rPr lang="en-US" dirty="0">
                <a:solidFill>
                  <a:schemeClr val="accent1">
                    <a:lumMod val="50000"/>
                  </a:schemeClr>
                </a:solidFill>
              </a:rPr>
              <a:t>Agentic Pre-Development Workspace for Enterprise Delivery Teams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8721" y="1673344"/>
            <a:ext cx="5248365" cy="1819598"/>
          </a:xfrm>
          <a:prstGeom prst="rect">
            <a:avLst/>
          </a:prstGeom>
        </p:spPr>
      </p:pic>
      <p:sp>
        <p:nvSpPr>
          <p:cNvPr id="4" name="TextBox 3">
            <a:extLst>
              <a:ext uri="{FF2B5EF4-FFF2-40B4-BE49-F238E27FC236}">
                <a16:creationId xmlns:a16="http://schemas.microsoft.com/office/drawing/2014/main" id="{49E0551E-D236-FE11-1111-2EABAD85746A}"/>
              </a:ext>
            </a:extLst>
          </p:cNvPr>
          <p:cNvSpPr txBox="1"/>
          <p:nvPr/>
        </p:nvSpPr>
        <p:spPr>
          <a:xfrm>
            <a:off x="3525673" y="4690823"/>
            <a:ext cx="5491480" cy="292388"/>
          </a:xfrm>
          <a:prstGeom prst="rect">
            <a:avLst/>
          </a:prstGeom>
          <a:noFill/>
        </p:spPr>
        <p:txBody>
          <a:bodyPr wrap="square" lIns="0" tIns="0" rIns="0">
            <a:spAutoFit/>
          </a:bodyPr>
          <a:lstStyle/>
          <a:p>
            <a:pPr algn="ctr">
              <a:defRPr sz="1000" b="0">
                <a:solidFill>
                  <a:srgbClr val="605E5C"/>
                </a:solidFill>
                <a:latin typeface="Aptos"/>
              </a:defRPr>
            </a:pPr>
            <a:r>
              <a:rPr sz="1600" dirty="0"/>
              <a:t>Team: </a:t>
            </a:r>
            <a:r>
              <a:rPr lang="en-IN" sz="1600" dirty="0"/>
              <a:t>Nexa</a:t>
            </a:r>
            <a:r>
              <a:rPr sz="1600" dirty="0"/>
              <a:t> | Members: </a:t>
            </a:r>
            <a:r>
              <a:rPr lang="en-IN" sz="1600" dirty="0"/>
              <a:t>Biswambhar Pal, </a:t>
            </a:r>
            <a:r>
              <a:rPr lang="en-IN" sz="1600" dirty="0" err="1"/>
              <a:t>Owendrila</a:t>
            </a:r>
            <a:r>
              <a:rPr lang="en-IN" sz="1600" dirty="0"/>
              <a:t> Saha</a:t>
            </a:r>
            <a:endParaRPr sz="1600" dirty="0"/>
          </a:p>
        </p:txBody>
      </p:sp>
      <p:sp>
        <p:nvSpPr>
          <p:cNvPr id="6" name="Footer Placeholder 5">
            <a:extLst>
              <a:ext uri="{FF2B5EF4-FFF2-40B4-BE49-F238E27FC236}">
                <a16:creationId xmlns:a16="http://schemas.microsoft.com/office/drawing/2014/main" id="{3C6480E9-2181-1A43-4CE8-D6B4810AD194}"/>
              </a:ext>
            </a:extLst>
          </p:cNvPr>
          <p:cNvSpPr>
            <a:spLocks noGrp="1"/>
          </p:cNvSpPr>
          <p:nvPr>
            <p:ph type="ftr" sz="quarter" idx="11"/>
          </p:nvPr>
        </p:nvSpPr>
        <p:spPr>
          <a:xfrm>
            <a:off x="3134513" y="6446837"/>
            <a:ext cx="6273800" cy="365125"/>
          </a:xfrm>
        </p:spPr>
        <p:txBody>
          <a:bodyPr/>
          <a:lstStyle/>
          <a:p>
            <a:r>
              <a:rPr lang="en-US" dirty="0"/>
              <a:t>Nexa.ai | Microsoft Build AI | Theme 01: AI at Work — Productivity &amp; Teamwork Reimagined</a:t>
            </a:r>
          </a:p>
        </p:txBody>
      </p:sp>
    </p:spTree>
    <p:extLst>
      <p:ext uri="{BB962C8B-B14F-4D97-AF65-F5344CB8AC3E}">
        <p14:creationId xmlns:p14="http://schemas.microsoft.com/office/powerpoint/2010/main" val="34089068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46120" cy="6858000"/>
          </a:xfrm>
          <a:prstGeom prst="rect">
            <a:avLst/>
          </a:prstGeom>
          <a:solidFill>
            <a:srgbClr val="EFF6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68021" y="2062479"/>
            <a:ext cx="2240280" cy="1277273"/>
          </a:xfrm>
          <a:prstGeom prst="rect">
            <a:avLst/>
          </a:prstGeom>
          <a:noFill/>
        </p:spPr>
        <p:txBody>
          <a:bodyPr wrap="square" lIns="0" tIns="0" rIns="0">
            <a:spAutoFit/>
          </a:bodyPr>
          <a:lstStyle/>
          <a:p>
            <a:pPr>
              <a:defRPr sz="2200" b="1">
                <a:solidFill>
                  <a:srgbClr val="201F1E"/>
                </a:solidFill>
                <a:latin typeface="Aptos"/>
              </a:defRPr>
            </a:pPr>
            <a:r>
              <a:rPr lang="en-US" sz="2000" dirty="0"/>
              <a:t>The Hidden Tax Before Development Starts</a:t>
            </a:r>
          </a:p>
        </p:txBody>
      </p:sp>
      <p:sp>
        <p:nvSpPr>
          <p:cNvPr id="6" name="TextBox 5"/>
          <p:cNvSpPr txBox="1"/>
          <p:nvPr/>
        </p:nvSpPr>
        <p:spPr>
          <a:xfrm>
            <a:off x="668021" y="3543649"/>
            <a:ext cx="1983739" cy="969496"/>
          </a:xfrm>
          <a:prstGeom prst="rect">
            <a:avLst/>
          </a:prstGeom>
          <a:noFill/>
        </p:spPr>
        <p:txBody>
          <a:bodyPr wrap="square" lIns="0" tIns="0" rIns="0">
            <a:spAutoFit/>
          </a:bodyPr>
          <a:lstStyle/>
          <a:p>
            <a:pPr algn="l">
              <a:defRPr sz="1050" b="0">
                <a:solidFill>
                  <a:srgbClr val="605E5C"/>
                </a:solidFill>
                <a:latin typeface="Aptos"/>
              </a:defRPr>
            </a:pPr>
            <a:r>
              <a:rPr sz="1200" dirty="0"/>
              <a:t>Every requirement conversation creates value </a:t>
            </a:r>
            <a:r>
              <a:rPr lang="en-US" sz="1200" dirty="0"/>
              <a:t>-</a:t>
            </a:r>
            <a:r>
              <a:rPr sz="1200" dirty="0"/>
              <a:t> but too much of that value is still trapped in meetings, chats and manual follow-ups.</a:t>
            </a:r>
          </a:p>
        </p:txBody>
      </p:sp>
      <p:sp>
        <p:nvSpPr>
          <p:cNvPr id="7" name="Rounded Rectangle 6"/>
          <p:cNvSpPr/>
          <p:nvPr/>
        </p:nvSpPr>
        <p:spPr>
          <a:xfrm>
            <a:off x="594360" y="1311838"/>
            <a:ext cx="2057400" cy="347472"/>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ptos"/>
              </a:defRPr>
            </a:pPr>
            <a:r>
              <a:rPr sz="1400" dirty="0"/>
              <a:t>Problem Statement</a:t>
            </a:r>
          </a:p>
        </p:txBody>
      </p:sp>
      <p:sp>
        <p:nvSpPr>
          <p:cNvPr id="8" name="TextBox 7"/>
          <p:cNvSpPr txBox="1"/>
          <p:nvPr/>
        </p:nvSpPr>
        <p:spPr>
          <a:xfrm>
            <a:off x="3769362" y="635673"/>
            <a:ext cx="7843518" cy="784830"/>
          </a:xfrm>
          <a:prstGeom prst="rect">
            <a:avLst/>
          </a:prstGeom>
          <a:noFill/>
        </p:spPr>
        <p:txBody>
          <a:bodyPr wrap="square" lIns="0" tIns="0" rIns="0">
            <a:spAutoFit/>
          </a:bodyPr>
          <a:lstStyle/>
          <a:p>
            <a:pPr algn="l">
              <a:defRPr sz="2800" b="1">
                <a:solidFill>
                  <a:srgbClr val="201F1E"/>
                </a:solidFill>
                <a:latin typeface="Aptos"/>
              </a:defRPr>
            </a:pPr>
            <a:r>
              <a:rPr sz="2400" dirty="0"/>
              <a:t>Requirements are getting lost between conversations and delivery</a:t>
            </a:r>
          </a:p>
        </p:txBody>
      </p:sp>
      <p:sp>
        <p:nvSpPr>
          <p:cNvPr id="9" name="TextBox 8"/>
          <p:cNvSpPr txBox="1"/>
          <p:nvPr/>
        </p:nvSpPr>
        <p:spPr>
          <a:xfrm>
            <a:off x="3753611" y="1470287"/>
            <a:ext cx="7859269" cy="430887"/>
          </a:xfrm>
          <a:prstGeom prst="rect">
            <a:avLst/>
          </a:prstGeom>
          <a:noFill/>
        </p:spPr>
        <p:txBody>
          <a:bodyPr wrap="square" lIns="0" tIns="0" rIns="0">
            <a:spAutoFit/>
          </a:bodyPr>
          <a:lstStyle/>
          <a:p>
            <a:pPr algn="l">
              <a:defRPr sz="1250" b="0">
                <a:solidFill>
                  <a:srgbClr val="605E5C"/>
                </a:solidFill>
                <a:latin typeface="Aptos"/>
              </a:defRPr>
            </a:pPr>
            <a:r>
              <a:rPr dirty="0"/>
              <a:t>Modern teams do not lack meetings </a:t>
            </a:r>
            <a:r>
              <a:rPr lang="en-US" dirty="0"/>
              <a:t>-</a:t>
            </a:r>
            <a:r>
              <a:rPr dirty="0"/>
              <a:t> they lack a trusted, AI-assisted system that turns meeting context into approved execution artifacts.</a:t>
            </a:r>
          </a:p>
        </p:txBody>
      </p:sp>
      <p:sp>
        <p:nvSpPr>
          <p:cNvPr id="10" name="Rounded Rectangle 9"/>
          <p:cNvSpPr/>
          <p:nvPr/>
        </p:nvSpPr>
        <p:spPr>
          <a:xfrm>
            <a:off x="3809494" y="2059088"/>
            <a:ext cx="2240280" cy="1417320"/>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809494" y="2059088"/>
            <a:ext cx="2240280" cy="6400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974086" y="2241969"/>
            <a:ext cx="1920240" cy="201168"/>
          </a:xfrm>
          <a:prstGeom prst="rect">
            <a:avLst/>
          </a:prstGeom>
          <a:noFill/>
        </p:spPr>
        <p:txBody>
          <a:bodyPr wrap="square" lIns="0" tIns="0" rIns="0">
            <a:spAutoFit/>
          </a:bodyPr>
          <a:lstStyle/>
          <a:p>
            <a:pPr algn="l">
              <a:defRPr sz="900" b="1">
                <a:solidFill>
                  <a:srgbClr val="605E5C"/>
                </a:solidFill>
                <a:latin typeface="Aptos"/>
              </a:defRPr>
            </a:pPr>
            <a:r>
              <a:t>Digital work overload</a:t>
            </a:r>
          </a:p>
        </p:txBody>
      </p:sp>
      <p:sp>
        <p:nvSpPr>
          <p:cNvPr id="13" name="TextBox 12"/>
          <p:cNvSpPr txBox="1"/>
          <p:nvPr/>
        </p:nvSpPr>
        <p:spPr>
          <a:xfrm>
            <a:off x="3974086" y="2498001"/>
            <a:ext cx="1920240" cy="411480"/>
          </a:xfrm>
          <a:prstGeom prst="rect">
            <a:avLst/>
          </a:prstGeom>
          <a:noFill/>
        </p:spPr>
        <p:txBody>
          <a:bodyPr wrap="square" lIns="0" tIns="0" rIns="0">
            <a:spAutoFit/>
          </a:bodyPr>
          <a:lstStyle/>
          <a:p>
            <a:pPr algn="l">
              <a:defRPr sz="2500" b="1">
                <a:solidFill>
                  <a:srgbClr val="0078D4"/>
                </a:solidFill>
                <a:latin typeface="Aptos"/>
              </a:defRPr>
            </a:pPr>
            <a:r>
              <a:t>57%</a:t>
            </a:r>
          </a:p>
        </p:txBody>
      </p:sp>
      <p:sp>
        <p:nvSpPr>
          <p:cNvPr id="14" name="TextBox 13"/>
          <p:cNvSpPr txBox="1"/>
          <p:nvPr/>
        </p:nvSpPr>
        <p:spPr>
          <a:xfrm>
            <a:off x="3974086" y="2955201"/>
            <a:ext cx="1920240" cy="475515"/>
          </a:xfrm>
          <a:prstGeom prst="rect">
            <a:avLst/>
          </a:prstGeom>
          <a:noFill/>
        </p:spPr>
        <p:txBody>
          <a:bodyPr wrap="square" lIns="0" tIns="0" rIns="0">
            <a:spAutoFit/>
          </a:bodyPr>
          <a:lstStyle/>
          <a:p>
            <a:pPr algn="l">
              <a:defRPr sz="930" b="0">
                <a:solidFill>
                  <a:srgbClr val="201F1E"/>
                </a:solidFill>
                <a:latin typeface="Aptos"/>
              </a:defRPr>
            </a:pPr>
            <a:r>
              <a:rPr dirty="0"/>
              <a:t>Average Microsoft 365 time is spent communicating in meetings, email and chat </a:t>
            </a:r>
            <a:r>
              <a:rPr lang="en-US" dirty="0"/>
              <a:t>-</a:t>
            </a:r>
            <a:r>
              <a:rPr dirty="0"/>
              <a:t> only 43% creating.</a:t>
            </a:r>
          </a:p>
        </p:txBody>
      </p:sp>
      <p:sp>
        <p:nvSpPr>
          <p:cNvPr id="15" name="Rounded Rectangle 14"/>
          <p:cNvSpPr/>
          <p:nvPr/>
        </p:nvSpPr>
        <p:spPr>
          <a:xfrm>
            <a:off x="6596127" y="2059088"/>
            <a:ext cx="2240280" cy="1417320"/>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596127" y="2059088"/>
            <a:ext cx="2240280" cy="64008"/>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60718" y="2241969"/>
            <a:ext cx="1920240" cy="201168"/>
          </a:xfrm>
          <a:prstGeom prst="rect">
            <a:avLst/>
          </a:prstGeom>
          <a:noFill/>
        </p:spPr>
        <p:txBody>
          <a:bodyPr wrap="square" lIns="0" tIns="0" rIns="0">
            <a:spAutoFit/>
          </a:bodyPr>
          <a:lstStyle/>
          <a:p>
            <a:pPr algn="l">
              <a:defRPr sz="900" b="1">
                <a:solidFill>
                  <a:srgbClr val="605E5C"/>
                </a:solidFill>
                <a:latin typeface="Aptos"/>
              </a:defRPr>
            </a:pPr>
            <a:r>
              <a:t>Execution fatigue</a:t>
            </a:r>
          </a:p>
        </p:txBody>
      </p:sp>
      <p:sp>
        <p:nvSpPr>
          <p:cNvPr id="18" name="TextBox 17"/>
          <p:cNvSpPr txBox="1"/>
          <p:nvPr/>
        </p:nvSpPr>
        <p:spPr>
          <a:xfrm>
            <a:off x="6760718" y="2498001"/>
            <a:ext cx="1920240" cy="411480"/>
          </a:xfrm>
          <a:prstGeom prst="rect">
            <a:avLst/>
          </a:prstGeom>
          <a:noFill/>
        </p:spPr>
        <p:txBody>
          <a:bodyPr wrap="square" lIns="0" tIns="0" rIns="0">
            <a:spAutoFit/>
          </a:bodyPr>
          <a:lstStyle/>
          <a:p>
            <a:pPr algn="l">
              <a:defRPr sz="2500" b="1">
                <a:solidFill>
                  <a:srgbClr val="D13438"/>
                </a:solidFill>
                <a:latin typeface="Aptos"/>
              </a:defRPr>
            </a:pPr>
            <a:r>
              <a:t>64%</a:t>
            </a:r>
          </a:p>
        </p:txBody>
      </p:sp>
      <p:sp>
        <p:nvSpPr>
          <p:cNvPr id="19" name="TextBox 18"/>
          <p:cNvSpPr txBox="1"/>
          <p:nvPr/>
        </p:nvSpPr>
        <p:spPr>
          <a:xfrm>
            <a:off x="6760718" y="2955201"/>
            <a:ext cx="1920240" cy="457200"/>
          </a:xfrm>
          <a:prstGeom prst="rect">
            <a:avLst/>
          </a:prstGeom>
          <a:noFill/>
        </p:spPr>
        <p:txBody>
          <a:bodyPr wrap="square" lIns="0" tIns="0" rIns="0">
            <a:spAutoFit/>
          </a:bodyPr>
          <a:lstStyle/>
          <a:p>
            <a:pPr algn="l">
              <a:defRPr sz="930" b="0">
                <a:solidFill>
                  <a:srgbClr val="201F1E"/>
                </a:solidFill>
                <a:latin typeface="Aptos"/>
              </a:defRPr>
            </a:pPr>
            <a:r>
              <a:t>People say they struggle to find enough time and energy to do their job.</a:t>
            </a:r>
          </a:p>
        </p:txBody>
      </p:sp>
      <p:sp>
        <p:nvSpPr>
          <p:cNvPr id="20" name="Rounded Rectangle 19"/>
          <p:cNvSpPr/>
          <p:nvPr/>
        </p:nvSpPr>
        <p:spPr>
          <a:xfrm>
            <a:off x="9372601" y="2050236"/>
            <a:ext cx="2240280" cy="1417320"/>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372601" y="2050236"/>
            <a:ext cx="2240280"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537192" y="2233117"/>
            <a:ext cx="1920240" cy="201168"/>
          </a:xfrm>
          <a:prstGeom prst="rect">
            <a:avLst/>
          </a:prstGeom>
          <a:noFill/>
        </p:spPr>
        <p:txBody>
          <a:bodyPr wrap="square" lIns="0" tIns="0" rIns="0">
            <a:spAutoFit/>
          </a:bodyPr>
          <a:lstStyle/>
          <a:p>
            <a:pPr algn="l">
              <a:defRPr sz="900" b="1">
                <a:solidFill>
                  <a:srgbClr val="605E5C"/>
                </a:solidFill>
                <a:latin typeface="Aptos"/>
              </a:defRPr>
            </a:pPr>
            <a:r>
              <a:t>Innovation risk</a:t>
            </a:r>
          </a:p>
        </p:txBody>
      </p:sp>
      <p:sp>
        <p:nvSpPr>
          <p:cNvPr id="23" name="TextBox 22"/>
          <p:cNvSpPr txBox="1"/>
          <p:nvPr/>
        </p:nvSpPr>
        <p:spPr>
          <a:xfrm>
            <a:off x="9537192" y="2489149"/>
            <a:ext cx="1920240" cy="411480"/>
          </a:xfrm>
          <a:prstGeom prst="rect">
            <a:avLst/>
          </a:prstGeom>
          <a:noFill/>
        </p:spPr>
        <p:txBody>
          <a:bodyPr wrap="square" lIns="0" tIns="0" rIns="0">
            <a:spAutoFit/>
          </a:bodyPr>
          <a:lstStyle/>
          <a:p>
            <a:pPr algn="l">
              <a:defRPr sz="2500" b="1">
                <a:solidFill>
                  <a:srgbClr val="FFB900"/>
                </a:solidFill>
                <a:latin typeface="Aptos"/>
              </a:defRPr>
            </a:pPr>
            <a:r>
              <a:t>60%</a:t>
            </a:r>
          </a:p>
        </p:txBody>
      </p:sp>
      <p:sp>
        <p:nvSpPr>
          <p:cNvPr id="24" name="TextBox 23"/>
          <p:cNvSpPr txBox="1"/>
          <p:nvPr/>
        </p:nvSpPr>
        <p:spPr>
          <a:xfrm>
            <a:off x="9537192" y="2946349"/>
            <a:ext cx="1920240" cy="457200"/>
          </a:xfrm>
          <a:prstGeom prst="rect">
            <a:avLst/>
          </a:prstGeom>
          <a:noFill/>
        </p:spPr>
        <p:txBody>
          <a:bodyPr wrap="square" lIns="0" tIns="0" rIns="0">
            <a:spAutoFit/>
          </a:bodyPr>
          <a:lstStyle/>
          <a:p>
            <a:pPr algn="l">
              <a:defRPr sz="930" b="0">
                <a:solidFill>
                  <a:srgbClr val="201F1E"/>
                </a:solidFill>
                <a:latin typeface="Aptos"/>
              </a:defRPr>
            </a:pPr>
            <a:r>
              <a:t>Leaders are concerned that lack of breakthrough ideas is already affecting teams.</a:t>
            </a:r>
          </a:p>
        </p:txBody>
      </p:sp>
      <p:sp>
        <p:nvSpPr>
          <p:cNvPr id="25" name="Rounded Rectangle 24"/>
          <p:cNvSpPr/>
          <p:nvPr/>
        </p:nvSpPr>
        <p:spPr>
          <a:xfrm>
            <a:off x="3819654" y="3887889"/>
            <a:ext cx="7793227" cy="1508760"/>
          </a:xfrm>
          <a:prstGeom prst="roundRect">
            <a:avLst/>
          </a:prstGeom>
          <a:solidFill>
            <a:srgbClr val="FAF9F8"/>
          </a:solidFill>
          <a:ln>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819654" y="3887889"/>
            <a:ext cx="73152" cy="15087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066541" y="4070769"/>
            <a:ext cx="6675120" cy="292608"/>
          </a:xfrm>
          <a:prstGeom prst="rect">
            <a:avLst/>
          </a:prstGeom>
          <a:noFill/>
        </p:spPr>
        <p:txBody>
          <a:bodyPr wrap="square" lIns="0" tIns="0" rIns="0">
            <a:spAutoFit/>
          </a:bodyPr>
          <a:lstStyle/>
          <a:p>
            <a:pPr algn="l">
              <a:defRPr sz="1400" b="1">
                <a:solidFill>
                  <a:srgbClr val="201F1E"/>
                </a:solidFill>
                <a:latin typeface="Aptos"/>
              </a:defRPr>
            </a:pPr>
            <a:r>
              <a:t>Real-world impact</a:t>
            </a:r>
          </a:p>
        </p:txBody>
      </p:sp>
      <p:sp>
        <p:nvSpPr>
          <p:cNvPr id="28" name="TextBox 27"/>
          <p:cNvSpPr txBox="1"/>
          <p:nvPr/>
        </p:nvSpPr>
        <p:spPr>
          <a:xfrm>
            <a:off x="4066541" y="4463961"/>
            <a:ext cx="6537960" cy="685800"/>
          </a:xfrm>
          <a:prstGeom prst="rect">
            <a:avLst/>
          </a:prstGeom>
          <a:noFill/>
        </p:spPr>
        <p:txBody>
          <a:bodyPr wrap="square" lIns="0" tIns="0" rIns="0">
            <a:spAutoFit/>
          </a:bodyPr>
          <a:lstStyle/>
          <a:p>
            <a:pPr algn="l">
              <a:defRPr sz="1200" b="0">
                <a:solidFill>
                  <a:srgbClr val="201F1E"/>
                </a:solidFill>
                <a:latin typeface="Aptos"/>
              </a:defRPr>
            </a:pPr>
            <a:r>
              <a:t>Before developers write code, teams spend hours reconstructing what was decided, creating BRDs, Jira stories, technical designs, estimates and test cases manually. The result is delayed delivery, inconsistent handoffs, missed edge cases, and weak traceability from business intent to implementation.</a:t>
            </a:r>
          </a:p>
        </p:txBody>
      </p:sp>
      <p:sp>
        <p:nvSpPr>
          <p:cNvPr id="29" name="Rounded Rectangle 28"/>
          <p:cNvSpPr/>
          <p:nvPr/>
        </p:nvSpPr>
        <p:spPr>
          <a:xfrm>
            <a:off x="3819654" y="5716689"/>
            <a:ext cx="1554480" cy="320040"/>
          </a:xfrm>
          <a:prstGeom prst="round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ptos"/>
              </a:defRPr>
            </a:pPr>
            <a:r>
              <a:rPr sz="1200" dirty="0"/>
              <a:t>Why it matters</a:t>
            </a:r>
          </a:p>
        </p:txBody>
      </p:sp>
      <p:sp>
        <p:nvSpPr>
          <p:cNvPr id="30" name="TextBox 29"/>
          <p:cNvSpPr txBox="1"/>
          <p:nvPr/>
        </p:nvSpPr>
        <p:spPr>
          <a:xfrm>
            <a:off x="5557013" y="5734977"/>
            <a:ext cx="6055867" cy="384721"/>
          </a:xfrm>
          <a:prstGeom prst="rect">
            <a:avLst/>
          </a:prstGeom>
          <a:noFill/>
        </p:spPr>
        <p:txBody>
          <a:bodyPr wrap="square" lIns="0" tIns="0" rIns="0">
            <a:spAutoFit/>
          </a:bodyPr>
          <a:lstStyle/>
          <a:p>
            <a:pPr algn="l">
              <a:defRPr sz="1050" b="0">
                <a:solidFill>
                  <a:srgbClr val="201F1E"/>
                </a:solidFill>
                <a:latin typeface="Aptos"/>
              </a:defRPr>
            </a:pPr>
            <a:r>
              <a:rPr sz="1100" dirty="0"/>
              <a:t>This is directly inside the Microsoft work graph: Teams meetings, Outlook, M365 files, Azure DevOps and enterprise knowledge.</a:t>
            </a:r>
          </a:p>
        </p:txBody>
      </p:sp>
      <p:sp>
        <p:nvSpPr>
          <p:cNvPr id="32" name="TextBox 31"/>
          <p:cNvSpPr txBox="1"/>
          <p:nvPr/>
        </p:nvSpPr>
        <p:spPr>
          <a:xfrm>
            <a:off x="11205972" y="6552435"/>
            <a:ext cx="502920" cy="156966"/>
          </a:xfrm>
          <a:prstGeom prst="rect">
            <a:avLst/>
          </a:prstGeom>
          <a:noFill/>
        </p:spPr>
        <p:txBody>
          <a:bodyPr wrap="square" lIns="0" tIns="0" rIns="0">
            <a:spAutoFit/>
          </a:bodyPr>
          <a:lstStyle/>
          <a:p>
            <a:pPr algn="r">
              <a:defRPr sz="720" b="0">
                <a:solidFill>
                  <a:srgbClr val="605E5C"/>
                </a:solidFill>
                <a:latin typeface="Aptos"/>
              </a:defRPr>
            </a:pPr>
            <a:r>
              <a:rPr lang="en-IN" dirty="0"/>
              <a:t>2</a:t>
            </a:r>
          </a:p>
        </p:txBody>
      </p:sp>
      <p:pic>
        <p:nvPicPr>
          <p:cNvPr id="35" name="Picture 3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302" y="737183"/>
            <a:ext cx="1235515" cy="428351"/>
          </a:xfrm>
          <a:prstGeom prst="rect">
            <a:avLst/>
          </a:prstGeom>
        </p:spPr>
      </p:pic>
      <p:sp>
        <p:nvSpPr>
          <p:cNvPr id="4" name="Footer Placeholder 3">
            <a:extLst>
              <a:ext uri="{FF2B5EF4-FFF2-40B4-BE49-F238E27FC236}">
                <a16:creationId xmlns:a16="http://schemas.microsoft.com/office/drawing/2014/main" id="{B7D3022E-0E5D-571E-213E-665CD39DCA84}"/>
              </a:ext>
            </a:extLst>
          </p:cNvPr>
          <p:cNvSpPr>
            <a:spLocks noGrp="1"/>
          </p:cNvSpPr>
          <p:nvPr>
            <p:ph type="ftr" sz="quarter" idx="11"/>
          </p:nvPr>
        </p:nvSpPr>
        <p:spPr>
          <a:xfrm>
            <a:off x="3124200" y="6446203"/>
            <a:ext cx="6720840" cy="365125"/>
          </a:xfrm>
        </p:spPr>
        <p:txBody>
          <a:bodyPr/>
          <a:lstStyle/>
          <a:p>
            <a:r>
              <a:rPr lang="en-US" dirty="0"/>
              <a:t>Nexa.ai | Microsoft Build AI | Theme 01: AI at Work — Productivity &amp; Teamwork Reimagined</a:t>
            </a:r>
          </a:p>
        </p:txBody>
      </p:sp>
    </p:spTree>
    <p:extLst>
      <p:ext uri="{BB962C8B-B14F-4D97-AF65-F5344CB8AC3E}">
        <p14:creationId xmlns:p14="http://schemas.microsoft.com/office/powerpoint/2010/main" val="3203852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46120" cy="6858000"/>
          </a:xfrm>
          <a:prstGeom prst="rect">
            <a:avLst/>
          </a:prstGeom>
          <a:solidFill>
            <a:srgbClr val="EFF6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851544"/>
            <a:ext cx="2240280" cy="969496"/>
          </a:xfrm>
          <a:prstGeom prst="rect">
            <a:avLst/>
          </a:prstGeom>
          <a:noFill/>
        </p:spPr>
        <p:txBody>
          <a:bodyPr wrap="square" lIns="0" tIns="0" rIns="0">
            <a:spAutoFit/>
          </a:bodyPr>
          <a:lstStyle/>
          <a:p>
            <a:pPr algn="l">
              <a:defRPr sz="2100" b="1">
                <a:solidFill>
                  <a:srgbClr val="201F1E"/>
                </a:solidFill>
                <a:latin typeface="Aptos"/>
              </a:defRPr>
            </a:pPr>
            <a:r>
              <a:rPr sz="2000" dirty="0"/>
              <a:t>Conversation-to-delivery automation</a:t>
            </a:r>
          </a:p>
        </p:txBody>
      </p:sp>
      <p:sp>
        <p:nvSpPr>
          <p:cNvPr id="6" name="TextBox 5"/>
          <p:cNvSpPr txBox="1"/>
          <p:nvPr/>
        </p:nvSpPr>
        <p:spPr>
          <a:xfrm>
            <a:off x="621792" y="2944368"/>
            <a:ext cx="2240280" cy="892552"/>
          </a:xfrm>
          <a:prstGeom prst="rect">
            <a:avLst/>
          </a:prstGeom>
          <a:noFill/>
        </p:spPr>
        <p:txBody>
          <a:bodyPr wrap="square" lIns="0" tIns="0" rIns="0">
            <a:spAutoFit/>
          </a:bodyPr>
          <a:lstStyle/>
          <a:p>
            <a:pPr algn="l">
              <a:defRPr sz="1050" b="0">
                <a:solidFill>
                  <a:srgbClr val="605E5C"/>
                </a:solidFill>
                <a:latin typeface="Aptos"/>
              </a:defRPr>
            </a:pPr>
            <a:r>
              <a:rPr sz="1100" dirty="0"/>
              <a:t>A Power Platform-based AI workspace that converts requirement transcripts into governed, role-approved delivery artifacts.</a:t>
            </a:r>
          </a:p>
        </p:txBody>
      </p:sp>
      <p:sp>
        <p:nvSpPr>
          <p:cNvPr id="7" name="Rounded Rectangle 6"/>
          <p:cNvSpPr/>
          <p:nvPr/>
        </p:nvSpPr>
        <p:spPr>
          <a:xfrm>
            <a:off x="594360" y="4043680"/>
            <a:ext cx="2057400" cy="310896"/>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ptos"/>
              </a:defRPr>
            </a:pPr>
            <a:r>
              <a:rPr sz="1200" dirty="0"/>
              <a:t>Power Pages</a:t>
            </a:r>
          </a:p>
        </p:txBody>
      </p:sp>
      <p:sp>
        <p:nvSpPr>
          <p:cNvPr id="8" name="Rounded Rectangle 7"/>
          <p:cNvSpPr/>
          <p:nvPr/>
        </p:nvSpPr>
        <p:spPr>
          <a:xfrm>
            <a:off x="594360" y="4464304"/>
            <a:ext cx="2057400" cy="310896"/>
          </a:xfrm>
          <a:prstGeom prst="round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ptos"/>
              </a:defRPr>
            </a:pPr>
            <a:r>
              <a:rPr sz="1200"/>
              <a:t>Power Automate</a:t>
            </a:r>
          </a:p>
        </p:txBody>
      </p:sp>
      <p:sp>
        <p:nvSpPr>
          <p:cNvPr id="9" name="Rounded Rectangle 8"/>
          <p:cNvSpPr/>
          <p:nvPr/>
        </p:nvSpPr>
        <p:spPr>
          <a:xfrm>
            <a:off x="594360" y="4884928"/>
            <a:ext cx="2057400" cy="310896"/>
          </a:xfrm>
          <a:prstGeom prst="round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ptos"/>
              </a:defRPr>
            </a:pPr>
            <a:r>
              <a:rPr sz="1200"/>
              <a:t>Copilot Studio</a:t>
            </a:r>
          </a:p>
        </p:txBody>
      </p:sp>
      <p:sp>
        <p:nvSpPr>
          <p:cNvPr id="10" name="Rounded Rectangle 9"/>
          <p:cNvSpPr/>
          <p:nvPr/>
        </p:nvSpPr>
        <p:spPr>
          <a:xfrm>
            <a:off x="594360" y="5305552"/>
            <a:ext cx="2057400" cy="310896"/>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ptos"/>
              </a:defRPr>
            </a:pPr>
            <a:r>
              <a:rPr sz="1200"/>
              <a:t>AI Prompts + Dataverse</a:t>
            </a:r>
          </a:p>
        </p:txBody>
      </p:sp>
      <p:sp>
        <p:nvSpPr>
          <p:cNvPr id="11" name="Rounded Rectangle 10"/>
          <p:cNvSpPr/>
          <p:nvPr/>
        </p:nvSpPr>
        <p:spPr>
          <a:xfrm>
            <a:off x="621792" y="1303020"/>
            <a:ext cx="2057400" cy="347472"/>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ptos"/>
              </a:defRPr>
            </a:pPr>
            <a:r>
              <a:rPr sz="1400" dirty="0"/>
              <a:t>Solution Overview</a:t>
            </a:r>
          </a:p>
        </p:txBody>
      </p:sp>
      <p:sp>
        <p:nvSpPr>
          <p:cNvPr id="13" name="TextBox 12"/>
          <p:cNvSpPr txBox="1"/>
          <p:nvPr/>
        </p:nvSpPr>
        <p:spPr>
          <a:xfrm>
            <a:off x="3781150" y="481584"/>
            <a:ext cx="7882128" cy="569387"/>
          </a:xfrm>
          <a:prstGeom prst="rect">
            <a:avLst/>
          </a:prstGeom>
          <a:noFill/>
        </p:spPr>
        <p:txBody>
          <a:bodyPr wrap="square" lIns="0" tIns="0" rIns="0">
            <a:spAutoFit/>
          </a:bodyPr>
          <a:lstStyle/>
          <a:p>
            <a:pPr algn="ctr">
              <a:defRPr sz="1250" b="0">
                <a:solidFill>
                  <a:srgbClr val="605E5C"/>
                </a:solidFill>
                <a:latin typeface="Aptos"/>
              </a:defRPr>
            </a:pPr>
            <a:r>
              <a:rPr sz="1700" b="1" dirty="0">
                <a:solidFill>
                  <a:schemeClr val="accent1">
                    <a:lumMod val="75000"/>
                  </a:schemeClr>
                </a:solidFill>
              </a:rPr>
              <a:t>Nexa.ai </a:t>
            </a:r>
            <a:r>
              <a:rPr sz="1700" b="1" dirty="0"/>
              <a:t>captures meeting context once, then orchestrates AI agents and approval flows to create a trusted pre-development </a:t>
            </a:r>
            <a:r>
              <a:rPr lang="en-US" sz="1700" b="1" dirty="0"/>
              <a:t>agentic </a:t>
            </a:r>
            <a:r>
              <a:rPr sz="1700" b="1" dirty="0"/>
              <a:t>package.</a:t>
            </a:r>
          </a:p>
        </p:txBody>
      </p:sp>
      <p:sp>
        <p:nvSpPr>
          <p:cNvPr id="14" name="Rounded Rectangle 13"/>
          <p:cNvSpPr/>
          <p:nvPr/>
        </p:nvSpPr>
        <p:spPr>
          <a:xfrm>
            <a:off x="4000676" y="1339088"/>
            <a:ext cx="7543800" cy="2680208"/>
          </a:xfrm>
          <a:prstGeom prst="roundRect">
            <a:avLst/>
          </a:prstGeom>
          <a:solidFill>
            <a:srgbClr val="FAF9F8"/>
          </a:solidFill>
          <a:ln>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200"/>
              </a:lnSpc>
              <a:defRPr sz="900" b="1">
                <a:solidFill>
                  <a:srgbClr val="FFFFFF"/>
                </a:solidFill>
                <a:latin typeface="Aptos"/>
              </a:defRPr>
            </a:pPr>
            <a:r>
              <a:rPr lang="en-US"/>
              <a:t>Autonomous Project Management</a:t>
            </a:r>
            <a:endParaRPr lang="en-US" dirty="0"/>
          </a:p>
        </p:txBody>
      </p:sp>
      <p:sp>
        <p:nvSpPr>
          <p:cNvPr id="15" name="Oval 14"/>
          <p:cNvSpPr/>
          <p:nvPr/>
        </p:nvSpPr>
        <p:spPr>
          <a:xfrm>
            <a:off x="4274995" y="1576831"/>
            <a:ext cx="411480" cy="41148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16" name="TextBox 15"/>
          <p:cNvSpPr txBox="1"/>
          <p:nvPr/>
        </p:nvSpPr>
        <p:spPr>
          <a:xfrm>
            <a:off x="4375072" y="1684528"/>
            <a:ext cx="1417320" cy="228600"/>
          </a:xfrm>
          <a:prstGeom prst="rect">
            <a:avLst/>
          </a:prstGeom>
          <a:noFill/>
        </p:spPr>
        <p:txBody>
          <a:bodyPr wrap="square" lIns="0" tIns="0" rIns="0">
            <a:spAutoFit/>
          </a:bodyPr>
          <a:lstStyle/>
          <a:p>
            <a:pPr algn="ctr">
              <a:defRPr sz="1150" b="1">
                <a:solidFill>
                  <a:srgbClr val="201F1E"/>
                </a:solidFill>
                <a:latin typeface="Aptos"/>
              </a:defRPr>
            </a:pPr>
            <a:r>
              <a:rPr dirty="0"/>
              <a:t>Capture</a:t>
            </a:r>
          </a:p>
        </p:txBody>
      </p:sp>
      <p:sp>
        <p:nvSpPr>
          <p:cNvPr id="17" name="TextBox 16"/>
          <p:cNvSpPr txBox="1"/>
          <p:nvPr/>
        </p:nvSpPr>
        <p:spPr>
          <a:xfrm>
            <a:off x="4175936" y="2053990"/>
            <a:ext cx="1572768" cy="600164"/>
          </a:xfrm>
          <a:prstGeom prst="rect">
            <a:avLst/>
          </a:prstGeom>
          <a:noFill/>
        </p:spPr>
        <p:txBody>
          <a:bodyPr wrap="square" lIns="0" tIns="0" rIns="0">
            <a:spAutoFit/>
          </a:bodyPr>
          <a:lstStyle/>
          <a:p>
            <a:pPr algn="ctr">
              <a:defRPr sz="840" b="0">
                <a:solidFill>
                  <a:srgbClr val="605E5C"/>
                </a:solidFill>
                <a:latin typeface="Aptos"/>
              </a:defRPr>
            </a:pPr>
            <a:r>
              <a:rPr sz="1200" dirty="0">
                <a:solidFill>
                  <a:schemeClr val="tx2">
                    <a:lumMod val="50000"/>
                  </a:schemeClr>
                </a:solidFill>
              </a:rPr>
              <a:t>User uploads </a:t>
            </a:r>
            <a:r>
              <a:rPr lang="en-US" sz="1200" dirty="0">
                <a:solidFill>
                  <a:schemeClr val="tx2">
                    <a:lumMod val="50000"/>
                  </a:schemeClr>
                </a:solidFill>
              </a:rPr>
              <a:t>meeting</a:t>
            </a:r>
            <a:r>
              <a:rPr sz="1200" dirty="0">
                <a:solidFill>
                  <a:schemeClr val="tx2">
                    <a:lumMod val="50000"/>
                  </a:schemeClr>
                </a:solidFill>
              </a:rPr>
              <a:t> transcript on Power Pages portal.</a:t>
            </a:r>
          </a:p>
        </p:txBody>
      </p:sp>
      <p:cxnSp>
        <p:nvCxnSpPr>
          <p:cNvPr id="18" name="Connector 17"/>
          <p:cNvCxnSpPr/>
          <p:nvPr/>
        </p:nvCxnSpPr>
        <p:spPr>
          <a:xfrm>
            <a:off x="4747435" y="1916175"/>
            <a:ext cx="758953" cy="0"/>
          </a:xfrm>
          <a:prstGeom prst="line">
            <a:avLst/>
          </a:prstGeom>
          <a:ln w="25400">
            <a:solidFill>
              <a:srgbClr val="0078D4"/>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058076" y="1576831"/>
            <a:ext cx="411480" cy="411480"/>
          </a:xfrm>
          <a:prstGeom prst="ellipse">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2</a:t>
            </a:r>
          </a:p>
        </p:txBody>
      </p:sp>
      <p:sp>
        <p:nvSpPr>
          <p:cNvPr id="20" name="TextBox 19"/>
          <p:cNvSpPr txBox="1"/>
          <p:nvPr/>
        </p:nvSpPr>
        <p:spPr>
          <a:xfrm>
            <a:off x="6261784" y="1684528"/>
            <a:ext cx="1417320" cy="228600"/>
          </a:xfrm>
          <a:prstGeom prst="rect">
            <a:avLst/>
          </a:prstGeom>
          <a:noFill/>
        </p:spPr>
        <p:txBody>
          <a:bodyPr wrap="square" lIns="0" tIns="0" rIns="0">
            <a:spAutoFit/>
          </a:bodyPr>
          <a:lstStyle/>
          <a:p>
            <a:pPr algn="ctr">
              <a:defRPr sz="1150" b="1">
                <a:solidFill>
                  <a:srgbClr val="201F1E"/>
                </a:solidFill>
                <a:latin typeface="Aptos"/>
              </a:defRPr>
            </a:pPr>
            <a:r>
              <a:rPr dirty="0"/>
              <a:t>Orchestrate</a:t>
            </a:r>
          </a:p>
        </p:txBody>
      </p:sp>
      <p:sp>
        <p:nvSpPr>
          <p:cNvPr id="21" name="TextBox 20"/>
          <p:cNvSpPr txBox="1"/>
          <p:nvPr/>
        </p:nvSpPr>
        <p:spPr>
          <a:xfrm>
            <a:off x="6058076" y="2096516"/>
            <a:ext cx="1572768" cy="600164"/>
          </a:xfrm>
          <a:prstGeom prst="rect">
            <a:avLst/>
          </a:prstGeom>
          <a:noFill/>
        </p:spPr>
        <p:txBody>
          <a:bodyPr wrap="square" lIns="0" tIns="0" rIns="0">
            <a:spAutoFit/>
          </a:bodyPr>
          <a:lstStyle/>
          <a:p>
            <a:pPr algn="ctr">
              <a:defRPr sz="840" b="0">
                <a:solidFill>
                  <a:srgbClr val="605E5C"/>
                </a:solidFill>
                <a:latin typeface="Aptos"/>
              </a:defRPr>
            </a:pPr>
            <a:r>
              <a:rPr sz="1200" dirty="0">
                <a:solidFill>
                  <a:schemeClr val="tx2">
                    <a:lumMod val="50000"/>
                  </a:schemeClr>
                </a:solidFill>
                <a:latin typeface="Aptos"/>
              </a:rPr>
              <a:t>Power Automate routes work by role, status and approval stage.</a:t>
            </a:r>
          </a:p>
        </p:txBody>
      </p:sp>
      <p:cxnSp>
        <p:nvCxnSpPr>
          <p:cNvPr id="22" name="Connector 21"/>
          <p:cNvCxnSpPr/>
          <p:nvPr/>
        </p:nvCxnSpPr>
        <p:spPr>
          <a:xfrm>
            <a:off x="6576236" y="1916175"/>
            <a:ext cx="758952" cy="0"/>
          </a:xfrm>
          <a:prstGeom prst="line">
            <a:avLst/>
          </a:prstGeom>
          <a:ln w="25400">
            <a:solidFill>
              <a:srgbClr val="5C2D91"/>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841156" y="1576831"/>
            <a:ext cx="411480" cy="411480"/>
          </a:xfrm>
          <a:prstGeom prst="ellipse">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3</a:t>
            </a:r>
          </a:p>
        </p:txBody>
      </p:sp>
      <p:sp>
        <p:nvSpPr>
          <p:cNvPr id="24" name="TextBox 23"/>
          <p:cNvSpPr txBox="1"/>
          <p:nvPr/>
        </p:nvSpPr>
        <p:spPr>
          <a:xfrm>
            <a:off x="8014892" y="1664208"/>
            <a:ext cx="1417320" cy="228600"/>
          </a:xfrm>
          <a:prstGeom prst="rect">
            <a:avLst/>
          </a:prstGeom>
          <a:noFill/>
        </p:spPr>
        <p:txBody>
          <a:bodyPr wrap="square" lIns="0" tIns="0" rIns="0">
            <a:spAutoFit/>
          </a:bodyPr>
          <a:lstStyle/>
          <a:p>
            <a:pPr algn="ctr">
              <a:defRPr sz="1150" b="1">
                <a:solidFill>
                  <a:srgbClr val="201F1E"/>
                </a:solidFill>
                <a:latin typeface="Aptos"/>
              </a:defRPr>
            </a:pPr>
            <a:r>
              <a:rPr dirty="0"/>
              <a:t>Generate</a:t>
            </a:r>
          </a:p>
        </p:txBody>
      </p:sp>
      <p:sp>
        <p:nvSpPr>
          <p:cNvPr id="25" name="TextBox 24"/>
          <p:cNvSpPr txBox="1"/>
          <p:nvPr/>
        </p:nvSpPr>
        <p:spPr>
          <a:xfrm>
            <a:off x="7841156" y="2114588"/>
            <a:ext cx="1572768" cy="600164"/>
          </a:xfrm>
          <a:prstGeom prst="rect">
            <a:avLst/>
          </a:prstGeom>
          <a:noFill/>
        </p:spPr>
        <p:txBody>
          <a:bodyPr wrap="square" lIns="0" tIns="0" rIns="0">
            <a:spAutoFit/>
          </a:bodyPr>
          <a:lstStyle/>
          <a:p>
            <a:pPr algn="ctr">
              <a:defRPr sz="840" b="0">
                <a:solidFill>
                  <a:srgbClr val="605E5C"/>
                </a:solidFill>
                <a:latin typeface="Aptos"/>
              </a:defRPr>
            </a:pPr>
            <a:r>
              <a:rPr sz="1200" dirty="0">
                <a:solidFill>
                  <a:schemeClr val="tx2">
                    <a:lumMod val="50000"/>
                  </a:schemeClr>
                </a:solidFill>
                <a:latin typeface="Aptos"/>
              </a:rPr>
              <a:t>Copilot Studio + AI prompts create structured artifacts.</a:t>
            </a:r>
          </a:p>
        </p:txBody>
      </p:sp>
      <p:cxnSp>
        <p:nvCxnSpPr>
          <p:cNvPr id="26" name="Connector 25"/>
          <p:cNvCxnSpPr/>
          <p:nvPr/>
        </p:nvCxnSpPr>
        <p:spPr>
          <a:xfrm>
            <a:off x="8344076" y="1904999"/>
            <a:ext cx="758952" cy="0"/>
          </a:xfrm>
          <a:prstGeom prst="line">
            <a:avLst/>
          </a:prstGeom>
          <a:ln w="25400">
            <a:solidFill>
              <a:srgbClr val="00B7C3"/>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9624236" y="1576831"/>
            <a:ext cx="411480" cy="411480"/>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rPr dirty="0"/>
              <a:t>4</a:t>
            </a:r>
          </a:p>
        </p:txBody>
      </p:sp>
      <p:sp>
        <p:nvSpPr>
          <p:cNvPr id="28" name="TextBox 27"/>
          <p:cNvSpPr txBox="1"/>
          <p:nvPr/>
        </p:nvSpPr>
        <p:spPr>
          <a:xfrm>
            <a:off x="9829976" y="1654555"/>
            <a:ext cx="1417320" cy="228600"/>
          </a:xfrm>
          <a:prstGeom prst="rect">
            <a:avLst/>
          </a:prstGeom>
          <a:noFill/>
        </p:spPr>
        <p:txBody>
          <a:bodyPr wrap="square" lIns="0" tIns="0" rIns="0">
            <a:spAutoFit/>
          </a:bodyPr>
          <a:lstStyle/>
          <a:p>
            <a:pPr algn="ctr">
              <a:defRPr sz="1150" b="1">
                <a:solidFill>
                  <a:srgbClr val="201F1E"/>
                </a:solidFill>
                <a:latin typeface="Aptos"/>
              </a:defRPr>
            </a:pPr>
            <a:r>
              <a:rPr dirty="0"/>
              <a:t>Approve</a:t>
            </a:r>
          </a:p>
        </p:txBody>
      </p:sp>
      <p:sp>
        <p:nvSpPr>
          <p:cNvPr id="29" name="TextBox 28"/>
          <p:cNvSpPr txBox="1"/>
          <p:nvPr/>
        </p:nvSpPr>
        <p:spPr>
          <a:xfrm>
            <a:off x="9589184" y="2130043"/>
            <a:ext cx="1572768" cy="600164"/>
          </a:xfrm>
          <a:prstGeom prst="rect">
            <a:avLst/>
          </a:prstGeom>
          <a:noFill/>
        </p:spPr>
        <p:txBody>
          <a:bodyPr wrap="square" lIns="0" tIns="0" rIns="0">
            <a:spAutoFit/>
          </a:bodyPr>
          <a:lstStyle/>
          <a:p>
            <a:pPr algn="ctr">
              <a:defRPr sz="840" b="0">
                <a:solidFill>
                  <a:srgbClr val="605E5C"/>
                </a:solidFill>
                <a:latin typeface="Aptos"/>
              </a:defRPr>
            </a:pPr>
            <a:r>
              <a:rPr sz="1200" dirty="0">
                <a:solidFill>
                  <a:schemeClr val="tx2">
                    <a:lumMod val="50000"/>
                  </a:schemeClr>
                </a:solidFill>
                <a:latin typeface="Aptos"/>
              </a:rPr>
              <a:t>BA, Scrum, Tech Lead and QA</a:t>
            </a:r>
            <a:r>
              <a:rPr lang="en-US" sz="1200" dirty="0">
                <a:solidFill>
                  <a:schemeClr val="tx2">
                    <a:lumMod val="50000"/>
                  </a:schemeClr>
                </a:solidFill>
                <a:latin typeface="Aptos"/>
              </a:rPr>
              <a:t> Lead</a:t>
            </a:r>
            <a:r>
              <a:rPr sz="1200" dirty="0">
                <a:solidFill>
                  <a:schemeClr val="tx2">
                    <a:lumMod val="50000"/>
                  </a:schemeClr>
                </a:solidFill>
                <a:latin typeface="Aptos"/>
              </a:rPr>
              <a:t> review before export.</a:t>
            </a:r>
          </a:p>
        </p:txBody>
      </p:sp>
      <p:sp>
        <p:nvSpPr>
          <p:cNvPr id="30" name="Rounded Rectangle 29"/>
          <p:cNvSpPr/>
          <p:nvPr/>
        </p:nvSpPr>
        <p:spPr>
          <a:xfrm>
            <a:off x="4195957" y="4359002"/>
            <a:ext cx="1600200" cy="1005840"/>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195957" y="4359002"/>
            <a:ext cx="1600200" cy="6400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342261" y="4523594"/>
            <a:ext cx="1325880" cy="246888"/>
          </a:xfrm>
          <a:prstGeom prst="rect">
            <a:avLst/>
          </a:prstGeom>
          <a:noFill/>
        </p:spPr>
        <p:txBody>
          <a:bodyPr wrap="square" lIns="0" tIns="0" rIns="0">
            <a:spAutoFit/>
          </a:bodyPr>
          <a:lstStyle/>
          <a:p>
            <a:pPr algn="l">
              <a:defRPr sz="1150" b="1">
                <a:solidFill>
                  <a:srgbClr val="201F1E"/>
                </a:solidFill>
                <a:latin typeface="Aptos"/>
              </a:defRPr>
            </a:pPr>
            <a:r>
              <a:t>Requirement Pack</a:t>
            </a:r>
          </a:p>
        </p:txBody>
      </p:sp>
      <p:sp>
        <p:nvSpPr>
          <p:cNvPr id="33" name="TextBox 32"/>
          <p:cNvSpPr txBox="1"/>
          <p:nvPr/>
        </p:nvSpPr>
        <p:spPr>
          <a:xfrm>
            <a:off x="4342261" y="4843634"/>
            <a:ext cx="1325880" cy="438912"/>
          </a:xfrm>
          <a:prstGeom prst="rect">
            <a:avLst/>
          </a:prstGeom>
          <a:noFill/>
        </p:spPr>
        <p:txBody>
          <a:bodyPr wrap="square" lIns="0" tIns="0" rIns="0">
            <a:spAutoFit/>
          </a:bodyPr>
          <a:lstStyle/>
          <a:p>
            <a:pPr algn="l">
              <a:defRPr sz="819" b="0">
                <a:solidFill>
                  <a:srgbClr val="605E5C"/>
                </a:solidFill>
                <a:latin typeface="Aptos"/>
              </a:defRPr>
            </a:pPr>
            <a:r>
              <a:t>BRD, scope, assumptions, acceptance criteria.</a:t>
            </a:r>
          </a:p>
        </p:txBody>
      </p:sp>
      <p:sp>
        <p:nvSpPr>
          <p:cNvPr id="34" name="Rounded Rectangle 33"/>
          <p:cNvSpPr/>
          <p:nvPr/>
        </p:nvSpPr>
        <p:spPr>
          <a:xfrm>
            <a:off x="6024757" y="4359002"/>
            <a:ext cx="1600200" cy="1005840"/>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024757" y="4359002"/>
            <a:ext cx="1600200" cy="64008"/>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171061" y="4523594"/>
            <a:ext cx="1325880" cy="246888"/>
          </a:xfrm>
          <a:prstGeom prst="rect">
            <a:avLst/>
          </a:prstGeom>
          <a:noFill/>
        </p:spPr>
        <p:txBody>
          <a:bodyPr wrap="square" lIns="0" tIns="0" rIns="0">
            <a:spAutoFit/>
          </a:bodyPr>
          <a:lstStyle/>
          <a:p>
            <a:pPr algn="l">
              <a:defRPr sz="1150" b="1">
                <a:solidFill>
                  <a:srgbClr val="201F1E"/>
                </a:solidFill>
                <a:latin typeface="Aptos"/>
              </a:defRPr>
            </a:pPr>
            <a:r>
              <a:t>Delivery Backlog</a:t>
            </a:r>
          </a:p>
        </p:txBody>
      </p:sp>
      <p:sp>
        <p:nvSpPr>
          <p:cNvPr id="37" name="TextBox 36"/>
          <p:cNvSpPr txBox="1"/>
          <p:nvPr/>
        </p:nvSpPr>
        <p:spPr>
          <a:xfrm>
            <a:off x="6171061" y="4843634"/>
            <a:ext cx="1325880" cy="438912"/>
          </a:xfrm>
          <a:prstGeom prst="rect">
            <a:avLst/>
          </a:prstGeom>
          <a:noFill/>
        </p:spPr>
        <p:txBody>
          <a:bodyPr wrap="square" lIns="0" tIns="0" rIns="0">
            <a:spAutoFit/>
          </a:bodyPr>
          <a:lstStyle/>
          <a:p>
            <a:pPr algn="l">
              <a:defRPr sz="819" b="0">
                <a:solidFill>
                  <a:srgbClr val="605E5C"/>
                </a:solidFill>
                <a:latin typeface="Aptos"/>
              </a:defRPr>
            </a:pPr>
            <a:r>
              <a:t>Epics, stories, subtasks, estimates and dependencies.</a:t>
            </a:r>
          </a:p>
        </p:txBody>
      </p:sp>
      <p:sp>
        <p:nvSpPr>
          <p:cNvPr id="38" name="Rounded Rectangle 37"/>
          <p:cNvSpPr/>
          <p:nvPr/>
        </p:nvSpPr>
        <p:spPr>
          <a:xfrm>
            <a:off x="7853557" y="4359002"/>
            <a:ext cx="1600200" cy="1005840"/>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7853557" y="4359002"/>
            <a:ext cx="1600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999861" y="4523594"/>
            <a:ext cx="1325880" cy="246888"/>
          </a:xfrm>
          <a:prstGeom prst="rect">
            <a:avLst/>
          </a:prstGeom>
          <a:noFill/>
        </p:spPr>
        <p:txBody>
          <a:bodyPr wrap="square" lIns="0" tIns="0" rIns="0">
            <a:spAutoFit/>
          </a:bodyPr>
          <a:lstStyle/>
          <a:p>
            <a:pPr algn="l">
              <a:defRPr sz="1150" b="1">
                <a:solidFill>
                  <a:srgbClr val="201F1E"/>
                </a:solidFill>
                <a:latin typeface="Aptos"/>
              </a:defRPr>
            </a:pPr>
            <a:r>
              <a:t>Technical Design</a:t>
            </a:r>
          </a:p>
        </p:txBody>
      </p:sp>
      <p:sp>
        <p:nvSpPr>
          <p:cNvPr id="41" name="TextBox 40"/>
          <p:cNvSpPr txBox="1"/>
          <p:nvPr/>
        </p:nvSpPr>
        <p:spPr>
          <a:xfrm>
            <a:off x="7999861" y="4843634"/>
            <a:ext cx="1325880" cy="438912"/>
          </a:xfrm>
          <a:prstGeom prst="rect">
            <a:avLst/>
          </a:prstGeom>
          <a:noFill/>
        </p:spPr>
        <p:txBody>
          <a:bodyPr wrap="square" lIns="0" tIns="0" rIns="0">
            <a:spAutoFit/>
          </a:bodyPr>
          <a:lstStyle/>
          <a:p>
            <a:pPr algn="l">
              <a:defRPr sz="819" b="0">
                <a:solidFill>
                  <a:srgbClr val="605E5C"/>
                </a:solidFill>
                <a:latin typeface="Aptos"/>
              </a:defRPr>
            </a:pPr>
            <a:r>
              <a:t>Architecture notes, algorithm, API/data model guidance.</a:t>
            </a:r>
          </a:p>
        </p:txBody>
      </p:sp>
      <p:sp>
        <p:nvSpPr>
          <p:cNvPr id="42" name="Rounded Rectangle 41"/>
          <p:cNvSpPr/>
          <p:nvPr/>
        </p:nvSpPr>
        <p:spPr>
          <a:xfrm>
            <a:off x="9682357" y="4359002"/>
            <a:ext cx="1600200" cy="1005840"/>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9682357" y="4359002"/>
            <a:ext cx="1600200" cy="64008"/>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828661" y="4523594"/>
            <a:ext cx="1325880" cy="246888"/>
          </a:xfrm>
          <a:prstGeom prst="rect">
            <a:avLst/>
          </a:prstGeom>
          <a:noFill/>
        </p:spPr>
        <p:txBody>
          <a:bodyPr wrap="square" lIns="0" tIns="0" rIns="0">
            <a:spAutoFit/>
          </a:bodyPr>
          <a:lstStyle/>
          <a:p>
            <a:pPr algn="l">
              <a:defRPr sz="1150" b="1">
                <a:solidFill>
                  <a:srgbClr val="201F1E"/>
                </a:solidFill>
                <a:latin typeface="Aptos"/>
              </a:defRPr>
            </a:pPr>
            <a:r>
              <a:t>QA Coverage</a:t>
            </a:r>
          </a:p>
        </p:txBody>
      </p:sp>
      <p:sp>
        <p:nvSpPr>
          <p:cNvPr id="45" name="TextBox 44"/>
          <p:cNvSpPr txBox="1"/>
          <p:nvPr/>
        </p:nvSpPr>
        <p:spPr>
          <a:xfrm>
            <a:off x="9828661" y="4843634"/>
            <a:ext cx="1325880" cy="424347"/>
          </a:xfrm>
          <a:prstGeom prst="rect">
            <a:avLst/>
          </a:prstGeom>
          <a:noFill/>
        </p:spPr>
        <p:txBody>
          <a:bodyPr wrap="square" lIns="0" tIns="0" rIns="0">
            <a:spAutoFit/>
          </a:bodyPr>
          <a:lstStyle/>
          <a:p>
            <a:pPr algn="l">
              <a:defRPr sz="819" b="0">
                <a:solidFill>
                  <a:srgbClr val="605E5C"/>
                </a:solidFill>
                <a:latin typeface="Aptos"/>
              </a:defRPr>
            </a:pPr>
            <a:r>
              <a:rPr dirty="0"/>
              <a:t>Test cases, edge</a:t>
            </a:r>
            <a:r>
              <a:rPr lang="en-US" dirty="0"/>
              <a:t> case</a:t>
            </a:r>
            <a:r>
              <a:rPr dirty="0"/>
              <a:t> scenarios and traceability matrix.</a:t>
            </a:r>
          </a:p>
        </p:txBody>
      </p:sp>
      <p:sp>
        <p:nvSpPr>
          <p:cNvPr id="46" name="Rounded Rectangle 45"/>
          <p:cNvSpPr/>
          <p:nvPr/>
        </p:nvSpPr>
        <p:spPr>
          <a:xfrm>
            <a:off x="4142618" y="5632050"/>
            <a:ext cx="7269480" cy="530352"/>
          </a:xfrm>
          <a:prstGeom prst="roundRect">
            <a:avLst/>
          </a:prstGeom>
          <a:solidFill>
            <a:srgbClr val="F0F6FF"/>
          </a:solidFill>
          <a:ln>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4325498" y="5741778"/>
            <a:ext cx="1508760" cy="256032"/>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ptos"/>
              </a:defRPr>
            </a:pPr>
            <a:r>
              <a:rPr dirty="0"/>
              <a:t>Feasible POC</a:t>
            </a:r>
          </a:p>
        </p:txBody>
      </p:sp>
      <p:sp>
        <p:nvSpPr>
          <p:cNvPr id="48" name="TextBox 47"/>
          <p:cNvSpPr txBox="1"/>
          <p:nvPr/>
        </p:nvSpPr>
        <p:spPr>
          <a:xfrm>
            <a:off x="6007994" y="5723490"/>
            <a:ext cx="5074920" cy="274320"/>
          </a:xfrm>
          <a:prstGeom prst="rect">
            <a:avLst/>
          </a:prstGeom>
          <a:noFill/>
        </p:spPr>
        <p:txBody>
          <a:bodyPr wrap="square" lIns="0" tIns="0" rIns="0">
            <a:spAutoFit/>
          </a:bodyPr>
          <a:lstStyle/>
          <a:p>
            <a:pPr algn="l">
              <a:defRPr sz="950" b="0">
                <a:solidFill>
                  <a:srgbClr val="201F1E"/>
                </a:solidFill>
                <a:latin typeface="Aptos"/>
              </a:defRPr>
            </a:pPr>
            <a:r>
              <a:t>Starts with manual transcript upload; scales later to Teams/DevOps integrations without changing the user workflow.</a:t>
            </a:r>
          </a:p>
        </p:txBody>
      </p:sp>
      <p:sp>
        <p:nvSpPr>
          <p:cNvPr id="50" name="TextBox 49"/>
          <p:cNvSpPr txBox="1"/>
          <p:nvPr/>
        </p:nvSpPr>
        <p:spPr>
          <a:xfrm>
            <a:off x="11247296" y="6584245"/>
            <a:ext cx="502920" cy="156966"/>
          </a:xfrm>
          <a:prstGeom prst="rect">
            <a:avLst/>
          </a:prstGeom>
          <a:noFill/>
        </p:spPr>
        <p:txBody>
          <a:bodyPr wrap="square" lIns="0" tIns="0" rIns="0">
            <a:spAutoFit/>
          </a:bodyPr>
          <a:lstStyle/>
          <a:p>
            <a:pPr algn="r">
              <a:defRPr sz="720" b="0">
                <a:solidFill>
                  <a:srgbClr val="605E5C"/>
                </a:solidFill>
                <a:latin typeface="Aptos"/>
              </a:defRPr>
            </a:pPr>
            <a:r>
              <a:rPr lang="en-IN" dirty="0"/>
              <a:t>3</a:t>
            </a:r>
            <a:endParaRPr dirty="0"/>
          </a:p>
        </p:txBody>
      </p:sp>
      <p:cxnSp>
        <p:nvCxnSpPr>
          <p:cNvPr id="52" name="Connector 21">
            <a:extLst>
              <a:ext uri="{FF2B5EF4-FFF2-40B4-BE49-F238E27FC236}">
                <a16:creationId xmlns:a16="http://schemas.microsoft.com/office/drawing/2014/main" id="{79E48BDD-3059-4087-EB66-1BFF5E4F6638}"/>
              </a:ext>
            </a:extLst>
          </p:cNvPr>
          <p:cNvCxnSpPr/>
          <p:nvPr/>
        </p:nvCxnSpPr>
        <p:spPr>
          <a:xfrm>
            <a:off x="10162716" y="1889251"/>
            <a:ext cx="758952" cy="0"/>
          </a:xfrm>
          <a:prstGeom prst="line">
            <a:avLst/>
          </a:prstGeom>
          <a:ln w="25400">
            <a:solidFill>
              <a:schemeClr val="accent3">
                <a:lumMod val="50000"/>
              </a:schemeClr>
            </a:solidFill>
          </a:ln>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CA7E864C-A92D-8A0B-B367-04BC0EB6DE74}"/>
              </a:ext>
            </a:extLst>
          </p:cNvPr>
          <p:cNvSpPr txBox="1"/>
          <p:nvPr/>
        </p:nvSpPr>
        <p:spPr>
          <a:xfrm>
            <a:off x="6148242" y="3255157"/>
            <a:ext cx="2744476" cy="600164"/>
          </a:xfrm>
          <a:prstGeom prst="rect">
            <a:avLst/>
          </a:prstGeom>
          <a:noFill/>
        </p:spPr>
        <p:txBody>
          <a:bodyPr wrap="square" lIns="0" tIns="0" rIns="0">
            <a:spAutoFit/>
          </a:bodyPr>
          <a:lstStyle/>
          <a:p>
            <a:pPr algn="ctr">
              <a:defRPr sz="840" b="0">
                <a:solidFill>
                  <a:srgbClr val="605E5C"/>
                </a:solidFill>
                <a:latin typeface="Aptos"/>
              </a:defRPr>
            </a:pPr>
            <a:r>
              <a:rPr lang="en-US" sz="1200" dirty="0">
                <a:solidFill>
                  <a:schemeClr val="tx2">
                    <a:lumMod val="50000"/>
                  </a:schemeClr>
                </a:solidFill>
                <a:latin typeface="Aptos"/>
              </a:rPr>
              <a:t>Approved Artifacts will Autonomously upload into destination project management tool (Jira)</a:t>
            </a:r>
          </a:p>
        </p:txBody>
      </p:sp>
      <p:sp>
        <p:nvSpPr>
          <p:cNvPr id="60" name="Rounded Rectangle 9">
            <a:extLst>
              <a:ext uri="{FF2B5EF4-FFF2-40B4-BE49-F238E27FC236}">
                <a16:creationId xmlns:a16="http://schemas.microsoft.com/office/drawing/2014/main" id="{8827ADF6-5674-4CB1-F268-D3C81C33502C}"/>
              </a:ext>
            </a:extLst>
          </p:cNvPr>
          <p:cNvSpPr/>
          <p:nvPr/>
        </p:nvSpPr>
        <p:spPr>
          <a:xfrm>
            <a:off x="618923" y="5742432"/>
            <a:ext cx="2057400" cy="310896"/>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200"/>
              </a:lnSpc>
              <a:defRPr sz="900" b="1">
                <a:solidFill>
                  <a:srgbClr val="FFFFFF"/>
                </a:solidFill>
                <a:latin typeface="Aptos"/>
              </a:defRPr>
            </a:pPr>
            <a:r>
              <a:rPr lang="en-US" sz="1200" dirty="0"/>
              <a:t>Autonomous Project Management</a:t>
            </a:r>
            <a:endParaRPr sz="1200" dirty="0"/>
          </a:p>
        </p:txBody>
      </p:sp>
      <p:sp>
        <p:nvSpPr>
          <p:cNvPr id="61" name="Oval 60">
            <a:extLst>
              <a:ext uri="{FF2B5EF4-FFF2-40B4-BE49-F238E27FC236}">
                <a16:creationId xmlns:a16="http://schemas.microsoft.com/office/drawing/2014/main" id="{FCCAEA45-9B4D-FA2C-3470-852804CE86E5}"/>
              </a:ext>
            </a:extLst>
          </p:cNvPr>
          <p:cNvSpPr/>
          <p:nvPr/>
        </p:nvSpPr>
        <p:spPr>
          <a:xfrm>
            <a:off x="6030135" y="2803722"/>
            <a:ext cx="411480" cy="411480"/>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rPr lang="en-US" dirty="0"/>
              <a:t>5</a:t>
            </a:r>
            <a:endParaRPr dirty="0"/>
          </a:p>
        </p:txBody>
      </p:sp>
      <p:cxnSp>
        <p:nvCxnSpPr>
          <p:cNvPr id="62" name="Connector 17">
            <a:extLst>
              <a:ext uri="{FF2B5EF4-FFF2-40B4-BE49-F238E27FC236}">
                <a16:creationId xmlns:a16="http://schemas.microsoft.com/office/drawing/2014/main" id="{BD9DA1CD-F421-D8C1-3AE3-2261C0C9273B}"/>
              </a:ext>
            </a:extLst>
          </p:cNvPr>
          <p:cNvCxnSpPr>
            <a:cxnSpLocks/>
          </p:cNvCxnSpPr>
          <p:nvPr/>
        </p:nvCxnSpPr>
        <p:spPr>
          <a:xfrm>
            <a:off x="6566836" y="3063240"/>
            <a:ext cx="2280160" cy="0"/>
          </a:xfrm>
          <a:prstGeom prst="line">
            <a:avLst/>
          </a:prstGeom>
          <a:ln w="25400">
            <a:solidFill>
              <a:srgbClr val="0078D4"/>
            </a:solidFill>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B3DB48A4-2807-D701-E5EE-2E94D9D50740}"/>
              </a:ext>
            </a:extLst>
          </p:cNvPr>
          <p:cNvSpPr txBox="1"/>
          <p:nvPr/>
        </p:nvSpPr>
        <p:spPr>
          <a:xfrm>
            <a:off x="6513244" y="2854240"/>
            <a:ext cx="2333752" cy="200632"/>
          </a:xfrm>
          <a:prstGeom prst="rect">
            <a:avLst/>
          </a:prstGeom>
          <a:noFill/>
        </p:spPr>
        <p:txBody>
          <a:bodyPr wrap="square" lIns="0" tIns="0" rIns="0">
            <a:spAutoFit/>
          </a:bodyPr>
          <a:lstStyle/>
          <a:p>
            <a:pPr algn="ctr">
              <a:lnSpc>
                <a:spcPts val="1200"/>
              </a:lnSpc>
              <a:defRPr sz="900" b="1">
                <a:solidFill>
                  <a:srgbClr val="FFFFFF"/>
                </a:solidFill>
                <a:latin typeface="Aptos"/>
              </a:defRPr>
            </a:pPr>
            <a:r>
              <a:rPr lang="en-US" sz="1100" dirty="0">
                <a:solidFill>
                  <a:sysClr val="windowText" lastClr="000000"/>
                </a:solidFill>
              </a:rPr>
              <a:t>Autonomous Project Management</a:t>
            </a:r>
          </a:p>
        </p:txBody>
      </p:sp>
      <p:pic>
        <p:nvPicPr>
          <p:cNvPr id="56" name="Picture 5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5171" y="764941"/>
            <a:ext cx="1235515" cy="428351"/>
          </a:xfrm>
          <a:prstGeom prst="rect">
            <a:avLst/>
          </a:prstGeom>
        </p:spPr>
      </p:pic>
      <p:sp>
        <p:nvSpPr>
          <p:cNvPr id="4" name="Footer Placeholder 3">
            <a:extLst>
              <a:ext uri="{FF2B5EF4-FFF2-40B4-BE49-F238E27FC236}">
                <a16:creationId xmlns:a16="http://schemas.microsoft.com/office/drawing/2014/main" id="{5DC70B6A-75E1-B05B-CB6D-C195FA2DF78F}"/>
              </a:ext>
            </a:extLst>
          </p:cNvPr>
          <p:cNvSpPr>
            <a:spLocks noGrp="1"/>
          </p:cNvSpPr>
          <p:nvPr>
            <p:ph type="ftr" sz="quarter" idx="11"/>
          </p:nvPr>
        </p:nvSpPr>
        <p:spPr>
          <a:xfrm>
            <a:off x="3176278" y="6480166"/>
            <a:ext cx="7269480" cy="365125"/>
          </a:xfrm>
        </p:spPr>
        <p:txBody>
          <a:bodyPr/>
          <a:lstStyle/>
          <a:p>
            <a:r>
              <a:rPr lang="en-US" dirty="0"/>
              <a:t>Nexa.ai | Microsoft Build AI | Theme 01: AI at Work — Productivity &amp; Teamwork Reimagined</a:t>
            </a:r>
          </a:p>
        </p:txBody>
      </p:sp>
    </p:spTree>
    <p:extLst>
      <p:ext uri="{BB962C8B-B14F-4D97-AF65-F5344CB8AC3E}">
        <p14:creationId xmlns:p14="http://schemas.microsoft.com/office/powerpoint/2010/main" val="17043702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46120" cy="6858000"/>
          </a:xfrm>
          <a:prstGeom prst="rect">
            <a:avLst/>
          </a:prstGeom>
          <a:solidFill>
            <a:srgbClr val="EFF6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6901" y="1884495"/>
            <a:ext cx="2240280" cy="1015663"/>
          </a:xfrm>
          <a:prstGeom prst="rect">
            <a:avLst/>
          </a:prstGeom>
          <a:noFill/>
        </p:spPr>
        <p:txBody>
          <a:bodyPr wrap="square" lIns="0" tIns="0" rIns="0">
            <a:spAutoFit/>
          </a:bodyPr>
          <a:lstStyle/>
          <a:p>
            <a:pPr algn="l">
              <a:defRPr sz="2100" b="1">
                <a:solidFill>
                  <a:srgbClr val="201F1E"/>
                </a:solidFill>
                <a:latin typeface="Aptos"/>
              </a:defRPr>
            </a:pPr>
            <a:r>
              <a:rPr lang="en-IN" dirty="0"/>
              <a:t>Power Platform Reference Architecture</a:t>
            </a:r>
          </a:p>
        </p:txBody>
      </p:sp>
      <p:sp>
        <p:nvSpPr>
          <p:cNvPr id="6" name="TextBox 5"/>
          <p:cNvSpPr txBox="1"/>
          <p:nvPr/>
        </p:nvSpPr>
        <p:spPr>
          <a:xfrm>
            <a:off x="596901" y="3057366"/>
            <a:ext cx="2240280" cy="530915"/>
          </a:xfrm>
          <a:prstGeom prst="rect">
            <a:avLst/>
          </a:prstGeom>
          <a:noFill/>
        </p:spPr>
        <p:txBody>
          <a:bodyPr wrap="square" lIns="0" tIns="0" rIns="0">
            <a:spAutoFit/>
          </a:bodyPr>
          <a:lstStyle/>
          <a:p>
            <a:pPr algn="l">
              <a:defRPr sz="1050" b="0">
                <a:solidFill>
                  <a:srgbClr val="605E5C"/>
                </a:solidFill>
                <a:latin typeface="Aptos"/>
              </a:defRPr>
            </a:pPr>
            <a:r>
              <a:rPr lang="en-US" dirty="0"/>
              <a:t>AI</a:t>
            </a:r>
            <a:r>
              <a:rPr dirty="0"/>
              <a:t> governed</a:t>
            </a:r>
            <a:r>
              <a:rPr lang="en-US" dirty="0"/>
              <a:t> </a:t>
            </a:r>
            <a:r>
              <a:rPr dirty="0"/>
              <a:t>enterprise-ready architecture for transcript-driven pre-development automation.</a:t>
            </a:r>
          </a:p>
        </p:txBody>
      </p:sp>
      <p:sp>
        <p:nvSpPr>
          <p:cNvPr id="7" name="Rounded Rectangle 6"/>
          <p:cNvSpPr/>
          <p:nvPr/>
        </p:nvSpPr>
        <p:spPr>
          <a:xfrm>
            <a:off x="594360" y="4267485"/>
            <a:ext cx="2057400" cy="310896"/>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sz="1200" dirty="0"/>
              <a:t>User Experience</a:t>
            </a:r>
          </a:p>
        </p:txBody>
      </p:sp>
      <p:sp>
        <p:nvSpPr>
          <p:cNvPr id="8" name="Rounded Rectangle 7"/>
          <p:cNvSpPr/>
          <p:nvPr/>
        </p:nvSpPr>
        <p:spPr>
          <a:xfrm>
            <a:off x="594360" y="4688109"/>
            <a:ext cx="2057400" cy="310896"/>
          </a:xfrm>
          <a:prstGeom prst="round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sz="1200"/>
              <a:t>Workflow + Approvals</a:t>
            </a:r>
          </a:p>
        </p:txBody>
      </p:sp>
      <p:sp>
        <p:nvSpPr>
          <p:cNvPr id="9" name="Rounded Rectangle 8"/>
          <p:cNvSpPr/>
          <p:nvPr/>
        </p:nvSpPr>
        <p:spPr>
          <a:xfrm>
            <a:off x="594360" y="5108733"/>
            <a:ext cx="2057400" cy="310896"/>
          </a:xfrm>
          <a:prstGeom prst="round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sz="1200"/>
              <a:t>AI Agents + Prompts</a:t>
            </a:r>
          </a:p>
        </p:txBody>
      </p:sp>
      <p:sp>
        <p:nvSpPr>
          <p:cNvPr id="10" name="Rounded Rectangle 9"/>
          <p:cNvSpPr/>
          <p:nvPr/>
        </p:nvSpPr>
        <p:spPr>
          <a:xfrm>
            <a:off x="594360" y="5529357"/>
            <a:ext cx="2057400" cy="310896"/>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sz="1200"/>
              <a:t>Data + Governance</a:t>
            </a:r>
          </a:p>
        </p:txBody>
      </p:sp>
      <p:sp>
        <p:nvSpPr>
          <p:cNvPr id="11" name="Rounded Rectangle 10"/>
          <p:cNvSpPr/>
          <p:nvPr/>
        </p:nvSpPr>
        <p:spPr>
          <a:xfrm>
            <a:off x="580891" y="1243584"/>
            <a:ext cx="2057400" cy="347472"/>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sz="1400" dirty="0"/>
              <a:t>Architecture Diagram</a:t>
            </a:r>
          </a:p>
        </p:txBody>
      </p:sp>
      <p:sp>
        <p:nvSpPr>
          <p:cNvPr id="80" name="TextBox 79"/>
          <p:cNvSpPr txBox="1"/>
          <p:nvPr/>
        </p:nvSpPr>
        <p:spPr>
          <a:xfrm>
            <a:off x="11109960" y="6621393"/>
            <a:ext cx="502920" cy="156966"/>
          </a:xfrm>
          <a:prstGeom prst="rect">
            <a:avLst/>
          </a:prstGeom>
          <a:noFill/>
        </p:spPr>
        <p:txBody>
          <a:bodyPr wrap="square" lIns="0" tIns="0" rIns="0">
            <a:spAutoFit/>
          </a:bodyPr>
          <a:lstStyle/>
          <a:p>
            <a:pPr algn="r">
              <a:defRPr sz="720" b="0">
                <a:solidFill>
                  <a:srgbClr val="605E5C"/>
                </a:solidFill>
                <a:latin typeface="Aptos"/>
              </a:defRPr>
            </a:pPr>
            <a:r>
              <a:rPr lang="en-IN" dirty="0"/>
              <a:t>4</a:t>
            </a:r>
            <a:endParaRPr dirty="0"/>
          </a:p>
        </p:txBody>
      </p:sp>
      <p:pic>
        <p:nvPicPr>
          <p:cNvPr id="82" name="Picture 81">
            <a:extLst>
              <a:ext uri="{FF2B5EF4-FFF2-40B4-BE49-F238E27FC236}">
                <a16:creationId xmlns:a16="http://schemas.microsoft.com/office/drawing/2014/main" id="{E72158A6-AA80-B6B9-BCE0-D462812E8C17}"/>
              </a:ext>
            </a:extLst>
          </p:cNvPr>
          <p:cNvPicPr>
            <a:picLocks noChangeAspect="1"/>
          </p:cNvPicPr>
          <p:nvPr/>
        </p:nvPicPr>
        <p:blipFill>
          <a:blip r:embed="rId2"/>
          <a:stretch>
            <a:fillRect/>
          </a:stretch>
        </p:blipFill>
        <p:spPr>
          <a:xfrm>
            <a:off x="4160521" y="314448"/>
            <a:ext cx="6744139" cy="7411023"/>
          </a:xfrm>
          <a:prstGeom prst="rect">
            <a:avLst/>
          </a:prstGeom>
        </p:spPr>
      </p:pic>
      <p:sp>
        <p:nvSpPr>
          <p:cNvPr id="78" name="TextBox 77"/>
          <p:cNvSpPr txBox="1"/>
          <p:nvPr/>
        </p:nvSpPr>
        <p:spPr>
          <a:xfrm>
            <a:off x="7166344" y="1128503"/>
            <a:ext cx="4446536" cy="415498"/>
          </a:xfrm>
          <a:prstGeom prst="rect">
            <a:avLst/>
          </a:prstGeom>
          <a:noFill/>
        </p:spPr>
        <p:txBody>
          <a:bodyPr wrap="square" lIns="0" tIns="0" rIns="0">
            <a:spAutoFit/>
          </a:bodyPr>
          <a:lstStyle/>
          <a:p>
            <a:pPr algn="r">
              <a:defRPr sz="760" b="0">
                <a:solidFill>
                  <a:srgbClr val="201F1E"/>
                </a:solidFill>
                <a:latin typeface="Aptos"/>
              </a:defRPr>
            </a:pPr>
            <a:r>
              <a:rPr sz="1200" b="1" dirty="0"/>
              <a:t>Governance</a:t>
            </a:r>
            <a:r>
              <a:rPr sz="1200" dirty="0"/>
              <a:t>:</a:t>
            </a:r>
            <a:r>
              <a:rPr lang="en-US" sz="1200" dirty="0"/>
              <a:t> E</a:t>
            </a:r>
            <a:r>
              <a:rPr sz="1200" dirty="0"/>
              <a:t>nvironment strategy · DLP policies · Dataverse security roles · </a:t>
            </a:r>
            <a:r>
              <a:rPr lang="en-US" sz="1200" dirty="0"/>
              <a:t>A</a:t>
            </a:r>
            <a:r>
              <a:rPr sz="1200" dirty="0"/>
              <a:t>udit logs · </a:t>
            </a:r>
            <a:r>
              <a:rPr lang="en-US" sz="1200" dirty="0"/>
              <a:t>P</a:t>
            </a:r>
            <a:r>
              <a:rPr sz="1200" dirty="0"/>
              <a:t>rompt versioning · </a:t>
            </a:r>
            <a:r>
              <a:rPr lang="en-US" sz="1200" dirty="0"/>
              <a:t>H</a:t>
            </a:r>
            <a:r>
              <a:rPr sz="1200" dirty="0"/>
              <a:t>uman </a:t>
            </a:r>
            <a:r>
              <a:rPr lang="en-US" sz="1200" dirty="0"/>
              <a:t>In Loop</a:t>
            </a:r>
            <a:endParaRPr sz="1200" dirty="0"/>
          </a:p>
        </p:txBody>
      </p:sp>
      <p:sp>
        <p:nvSpPr>
          <p:cNvPr id="13" name="TextBox 12"/>
          <p:cNvSpPr txBox="1"/>
          <p:nvPr/>
        </p:nvSpPr>
        <p:spPr>
          <a:xfrm>
            <a:off x="6095846" y="640280"/>
            <a:ext cx="5517033" cy="430887"/>
          </a:xfrm>
          <a:prstGeom prst="rect">
            <a:avLst/>
          </a:prstGeom>
          <a:noFill/>
        </p:spPr>
        <p:txBody>
          <a:bodyPr wrap="square" lIns="0" tIns="0" rIns="0">
            <a:spAutoFit/>
          </a:bodyPr>
          <a:lstStyle/>
          <a:p>
            <a:pPr algn="r">
              <a:defRPr sz="1250" b="0">
                <a:solidFill>
                  <a:srgbClr val="605E5C"/>
                </a:solidFill>
                <a:latin typeface="Aptos"/>
              </a:defRPr>
            </a:pPr>
            <a:r>
              <a:rPr dirty="0"/>
              <a:t>A feasible Power Platform architecture that starts as a POC and scales to enterprise-grade </a:t>
            </a:r>
            <a:r>
              <a:rPr lang="en-US" dirty="0"/>
              <a:t>AI Suite</a:t>
            </a:r>
            <a:endParaRPr dirty="0"/>
          </a:p>
        </p:txBody>
      </p:sp>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5171" y="715945"/>
            <a:ext cx="1235515" cy="428351"/>
          </a:xfrm>
          <a:prstGeom prst="rect">
            <a:avLst/>
          </a:prstGeom>
        </p:spPr>
      </p:pic>
      <p:sp>
        <p:nvSpPr>
          <p:cNvPr id="4" name="Footer Placeholder 3">
            <a:extLst>
              <a:ext uri="{FF2B5EF4-FFF2-40B4-BE49-F238E27FC236}">
                <a16:creationId xmlns:a16="http://schemas.microsoft.com/office/drawing/2014/main" id="{9DFB820D-F58B-DBAE-8768-FE3A53900E35}"/>
              </a:ext>
            </a:extLst>
          </p:cNvPr>
          <p:cNvSpPr>
            <a:spLocks noGrp="1"/>
          </p:cNvSpPr>
          <p:nvPr>
            <p:ph type="ftr" sz="quarter" idx="11"/>
          </p:nvPr>
        </p:nvSpPr>
        <p:spPr>
          <a:xfrm>
            <a:off x="3124200" y="6492875"/>
            <a:ext cx="7985760" cy="365125"/>
          </a:xfrm>
        </p:spPr>
        <p:txBody>
          <a:bodyPr/>
          <a:lstStyle/>
          <a:p>
            <a:r>
              <a:rPr lang="en-US" dirty="0"/>
              <a:t>Nexa.ai | Microsoft Build AI | Theme 01: AI at Work — Productivity &amp; Teamwork Reimagined</a:t>
            </a:r>
          </a:p>
        </p:txBody>
      </p:sp>
    </p:spTree>
    <p:extLst>
      <p:ext uri="{BB962C8B-B14F-4D97-AF65-F5344CB8AC3E}">
        <p14:creationId xmlns:p14="http://schemas.microsoft.com/office/powerpoint/2010/main" val="3488542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46120" cy="6858000"/>
          </a:xfrm>
          <a:prstGeom prst="rect">
            <a:avLst/>
          </a:prstGeom>
          <a:solidFill>
            <a:srgbClr val="EFF6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907375"/>
            <a:ext cx="2240280" cy="1061829"/>
          </a:xfrm>
          <a:prstGeom prst="rect">
            <a:avLst/>
          </a:prstGeom>
          <a:noFill/>
        </p:spPr>
        <p:txBody>
          <a:bodyPr wrap="square" lIns="0" tIns="0" rIns="0">
            <a:spAutoFit/>
          </a:bodyPr>
          <a:lstStyle/>
          <a:p>
            <a:pPr algn="l">
              <a:defRPr sz="2200" b="1">
                <a:solidFill>
                  <a:srgbClr val="201F1E"/>
                </a:solidFill>
                <a:latin typeface="Aptos"/>
              </a:defRPr>
            </a:pPr>
            <a:r>
              <a:rPr dirty="0"/>
              <a:t>AI integration</a:t>
            </a:r>
            <a:r>
              <a:rPr lang="en-US" dirty="0"/>
              <a:t> – Copilot and AI Prompts</a:t>
            </a:r>
            <a:endParaRPr dirty="0"/>
          </a:p>
        </p:txBody>
      </p:sp>
      <p:sp>
        <p:nvSpPr>
          <p:cNvPr id="6" name="TextBox 5"/>
          <p:cNvSpPr txBox="1"/>
          <p:nvPr/>
        </p:nvSpPr>
        <p:spPr>
          <a:xfrm>
            <a:off x="594360" y="3026664"/>
            <a:ext cx="2240280" cy="784830"/>
          </a:xfrm>
          <a:prstGeom prst="rect">
            <a:avLst/>
          </a:prstGeom>
          <a:noFill/>
        </p:spPr>
        <p:txBody>
          <a:bodyPr wrap="square" lIns="0" tIns="0" rIns="0">
            <a:spAutoFit/>
          </a:bodyPr>
          <a:lstStyle/>
          <a:p>
            <a:pPr algn="l">
              <a:defRPr sz="1050" b="0">
                <a:solidFill>
                  <a:srgbClr val="605E5C"/>
                </a:solidFill>
                <a:latin typeface="Aptos"/>
              </a:defRPr>
            </a:pPr>
            <a:r>
              <a:rPr sz="1200" dirty="0"/>
              <a:t>Role-specific AI agents convert unstructured meeting text into structured, reviewable delivery artifacts.</a:t>
            </a:r>
          </a:p>
        </p:txBody>
      </p:sp>
      <p:sp>
        <p:nvSpPr>
          <p:cNvPr id="7" name="Rounded Rectangle 6"/>
          <p:cNvSpPr/>
          <p:nvPr/>
        </p:nvSpPr>
        <p:spPr>
          <a:xfrm>
            <a:off x="594360" y="3944112"/>
            <a:ext cx="2057400" cy="310896"/>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sz="1200" dirty="0"/>
              <a:t>Grounded Generation</a:t>
            </a:r>
          </a:p>
        </p:txBody>
      </p:sp>
      <p:sp>
        <p:nvSpPr>
          <p:cNvPr id="8" name="Rounded Rectangle 7"/>
          <p:cNvSpPr/>
          <p:nvPr/>
        </p:nvSpPr>
        <p:spPr>
          <a:xfrm>
            <a:off x="594360" y="4364736"/>
            <a:ext cx="2057400" cy="310896"/>
          </a:xfrm>
          <a:prstGeom prst="round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sz="1200"/>
              <a:t>Specialist Agents</a:t>
            </a:r>
          </a:p>
        </p:txBody>
      </p:sp>
      <p:sp>
        <p:nvSpPr>
          <p:cNvPr id="9" name="Rounded Rectangle 8"/>
          <p:cNvSpPr/>
          <p:nvPr/>
        </p:nvSpPr>
        <p:spPr>
          <a:xfrm>
            <a:off x="594360" y="4785360"/>
            <a:ext cx="2057400" cy="310896"/>
          </a:xfrm>
          <a:prstGeom prst="round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sz="1200"/>
              <a:t>Human Approval</a:t>
            </a:r>
          </a:p>
        </p:txBody>
      </p:sp>
      <p:sp>
        <p:nvSpPr>
          <p:cNvPr id="10" name="Rounded Rectangle 9"/>
          <p:cNvSpPr/>
          <p:nvPr/>
        </p:nvSpPr>
        <p:spPr>
          <a:xfrm>
            <a:off x="594360" y="5205984"/>
            <a:ext cx="2057400" cy="310896"/>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sz="1200"/>
              <a:t>Responsible AI</a:t>
            </a:r>
          </a:p>
        </p:txBody>
      </p:sp>
      <p:sp>
        <p:nvSpPr>
          <p:cNvPr id="11" name="Rounded Rectangle 10"/>
          <p:cNvSpPr/>
          <p:nvPr/>
        </p:nvSpPr>
        <p:spPr>
          <a:xfrm>
            <a:off x="594360" y="1312562"/>
            <a:ext cx="2057400" cy="347472"/>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sz="1400" dirty="0"/>
              <a:t>AI Integration Details</a:t>
            </a:r>
          </a:p>
        </p:txBody>
      </p:sp>
      <p:sp>
        <p:nvSpPr>
          <p:cNvPr id="13" name="TextBox 12"/>
          <p:cNvSpPr txBox="1"/>
          <p:nvPr/>
        </p:nvSpPr>
        <p:spPr>
          <a:xfrm>
            <a:off x="3858768" y="675873"/>
            <a:ext cx="7406640" cy="477054"/>
          </a:xfrm>
          <a:prstGeom prst="rect">
            <a:avLst/>
          </a:prstGeom>
          <a:noFill/>
        </p:spPr>
        <p:txBody>
          <a:bodyPr wrap="square" lIns="0" tIns="0" rIns="0">
            <a:spAutoFit/>
          </a:bodyPr>
          <a:lstStyle/>
          <a:p>
            <a:pPr algn="l">
              <a:defRPr sz="1220" b="0">
                <a:solidFill>
                  <a:srgbClr val="605E5C"/>
                </a:solidFill>
                <a:latin typeface="Aptos"/>
              </a:defRPr>
            </a:pPr>
            <a:r>
              <a:rPr sz="1400" dirty="0"/>
              <a:t>Nexa.ai uses Power Platform AI prompts and Copilot Studio agents to generate artifacts with source grounding, confidence and review gates.</a:t>
            </a:r>
          </a:p>
        </p:txBody>
      </p:sp>
      <p:sp>
        <p:nvSpPr>
          <p:cNvPr id="14" name="Rounded Rectangle 13"/>
          <p:cNvSpPr/>
          <p:nvPr/>
        </p:nvSpPr>
        <p:spPr>
          <a:xfrm>
            <a:off x="3808983" y="1364488"/>
            <a:ext cx="7818120" cy="1874519"/>
          </a:xfrm>
          <a:prstGeom prst="roundRect">
            <a:avLst/>
          </a:prstGeom>
          <a:solidFill>
            <a:srgbClr val="FAF9F8"/>
          </a:solidFill>
          <a:ln>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Oval 14"/>
          <p:cNvSpPr/>
          <p:nvPr/>
        </p:nvSpPr>
        <p:spPr>
          <a:xfrm>
            <a:off x="4602480" y="1574800"/>
            <a:ext cx="384048" cy="384048"/>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rPr dirty="0"/>
              <a:t>1</a:t>
            </a:r>
          </a:p>
        </p:txBody>
      </p:sp>
      <p:sp>
        <p:nvSpPr>
          <p:cNvPr id="16" name="TextBox 15"/>
          <p:cNvSpPr txBox="1"/>
          <p:nvPr/>
        </p:nvSpPr>
        <p:spPr>
          <a:xfrm>
            <a:off x="4419599" y="2032000"/>
            <a:ext cx="777240" cy="384721"/>
          </a:xfrm>
          <a:prstGeom prst="rect">
            <a:avLst/>
          </a:prstGeom>
          <a:noFill/>
        </p:spPr>
        <p:txBody>
          <a:bodyPr wrap="square" lIns="0" tIns="0" rIns="0">
            <a:spAutoFit/>
          </a:bodyPr>
          <a:lstStyle/>
          <a:p>
            <a:pPr algn="ctr">
              <a:defRPr sz="960" b="1">
                <a:solidFill>
                  <a:srgbClr val="201F1E"/>
                </a:solidFill>
                <a:latin typeface="Aptos"/>
              </a:defRPr>
            </a:pPr>
            <a:r>
              <a:rPr sz="1100"/>
              <a:t>Transcript</a:t>
            </a:r>
            <a:br>
              <a:rPr sz="1100"/>
            </a:br>
            <a:r>
              <a:rPr sz="1100"/>
              <a:t>Input</a:t>
            </a:r>
          </a:p>
        </p:txBody>
      </p:sp>
      <p:sp>
        <p:nvSpPr>
          <p:cNvPr id="17" name="TextBox 16"/>
          <p:cNvSpPr txBox="1"/>
          <p:nvPr/>
        </p:nvSpPr>
        <p:spPr>
          <a:xfrm>
            <a:off x="4291584" y="2489200"/>
            <a:ext cx="1051560" cy="661720"/>
          </a:xfrm>
          <a:prstGeom prst="rect">
            <a:avLst/>
          </a:prstGeom>
          <a:noFill/>
        </p:spPr>
        <p:txBody>
          <a:bodyPr wrap="square" lIns="0" tIns="0" rIns="0">
            <a:spAutoFit/>
          </a:bodyPr>
          <a:lstStyle/>
          <a:p>
            <a:pPr algn="ctr">
              <a:defRPr sz="690" b="0">
                <a:solidFill>
                  <a:srgbClr val="605E5C"/>
                </a:solidFill>
                <a:latin typeface="Aptos"/>
              </a:defRPr>
            </a:pPr>
            <a:r>
              <a:rPr sz="1000"/>
              <a:t>Uploaded Teams transcript is cleaned and chunked.</a:t>
            </a:r>
          </a:p>
        </p:txBody>
      </p:sp>
      <p:cxnSp>
        <p:nvCxnSpPr>
          <p:cNvPr id="18" name="Connector 17"/>
          <p:cNvCxnSpPr/>
          <p:nvPr/>
        </p:nvCxnSpPr>
        <p:spPr>
          <a:xfrm>
            <a:off x="5013960" y="1766824"/>
            <a:ext cx="685800" cy="0"/>
          </a:xfrm>
          <a:prstGeom prst="line">
            <a:avLst/>
          </a:prstGeom>
          <a:ln w="22860">
            <a:solidFill>
              <a:srgbClr val="0078D4"/>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019800" y="1574800"/>
            <a:ext cx="384048" cy="384048"/>
          </a:xfrm>
          <a:prstGeom prst="ellipse">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2</a:t>
            </a:r>
          </a:p>
        </p:txBody>
      </p:sp>
      <p:sp>
        <p:nvSpPr>
          <p:cNvPr id="20" name="TextBox 19"/>
          <p:cNvSpPr txBox="1"/>
          <p:nvPr/>
        </p:nvSpPr>
        <p:spPr>
          <a:xfrm>
            <a:off x="5836919" y="2032000"/>
            <a:ext cx="777240" cy="384721"/>
          </a:xfrm>
          <a:prstGeom prst="rect">
            <a:avLst/>
          </a:prstGeom>
          <a:noFill/>
        </p:spPr>
        <p:txBody>
          <a:bodyPr wrap="square" lIns="0" tIns="0" rIns="0">
            <a:spAutoFit/>
          </a:bodyPr>
          <a:lstStyle/>
          <a:p>
            <a:pPr algn="ctr">
              <a:defRPr sz="960" b="1">
                <a:solidFill>
                  <a:srgbClr val="201F1E"/>
                </a:solidFill>
                <a:latin typeface="Aptos"/>
              </a:defRPr>
            </a:pPr>
            <a:r>
              <a:rPr sz="1100"/>
              <a:t>Context</a:t>
            </a:r>
            <a:br>
              <a:rPr sz="1100"/>
            </a:br>
            <a:r>
              <a:rPr sz="1100"/>
              <a:t>Extraction</a:t>
            </a:r>
          </a:p>
        </p:txBody>
      </p:sp>
      <p:sp>
        <p:nvSpPr>
          <p:cNvPr id="21" name="TextBox 20"/>
          <p:cNvSpPr txBox="1"/>
          <p:nvPr/>
        </p:nvSpPr>
        <p:spPr>
          <a:xfrm>
            <a:off x="5708904" y="2489200"/>
            <a:ext cx="1051560" cy="661720"/>
          </a:xfrm>
          <a:prstGeom prst="rect">
            <a:avLst/>
          </a:prstGeom>
          <a:noFill/>
        </p:spPr>
        <p:txBody>
          <a:bodyPr wrap="square" lIns="0" tIns="0" rIns="0">
            <a:spAutoFit/>
          </a:bodyPr>
          <a:lstStyle/>
          <a:p>
            <a:pPr algn="ctr">
              <a:defRPr sz="690" b="0">
                <a:solidFill>
                  <a:srgbClr val="605E5C"/>
                </a:solidFill>
                <a:latin typeface="Aptos"/>
              </a:defRPr>
            </a:pPr>
            <a:r>
              <a:rPr sz="1000"/>
              <a:t>AI extracts actors, scope, decisions and open questions.</a:t>
            </a:r>
          </a:p>
        </p:txBody>
      </p:sp>
      <p:cxnSp>
        <p:nvCxnSpPr>
          <p:cNvPr id="22" name="Connector 21"/>
          <p:cNvCxnSpPr/>
          <p:nvPr/>
        </p:nvCxnSpPr>
        <p:spPr>
          <a:xfrm>
            <a:off x="6431280" y="1766824"/>
            <a:ext cx="685800" cy="0"/>
          </a:xfrm>
          <a:prstGeom prst="line">
            <a:avLst/>
          </a:prstGeom>
          <a:ln w="22860">
            <a:solidFill>
              <a:srgbClr val="5C2D91"/>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437120" y="1574800"/>
            <a:ext cx="384048" cy="384048"/>
          </a:xfrm>
          <a:prstGeom prst="ellipse">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3</a:t>
            </a:r>
          </a:p>
        </p:txBody>
      </p:sp>
      <p:sp>
        <p:nvSpPr>
          <p:cNvPr id="24" name="TextBox 23"/>
          <p:cNvSpPr txBox="1"/>
          <p:nvPr/>
        </p:nvSpPr>
        <p:spPr>
          <a:xfrm>
            <a:off x="7254240" y="2032000"/>
            <a:ext cx="777240" cy="384721"/>
          </a:xfrm>
          <a:prstGeom prst="rect">
            <a:avLst/>
          </a:prstGeom>
          <a:noFill/>
        </p:spPr>
        <p:txBody>
          <a:bodyPr wrap="square" lIns="0" tIns="0" rIns="0">
            <a:spAutoFit/>
          </a:bodyPr>
          <a:lstStyle/>
          <a:p>
            <a:pPr algn="ctr">
              <a:defRPr sz="960" b="1">
                <a:solidFill>
                  <a:srgbClr val="201F1E"/>
                </a:solidFill>
                <a:latin typeface="Aptos"/>
              </a:defRPr>
            </a:pPr>
            <a:r>
              <a:rPr sz="1100"/>
              <a:t>Agent</a:t>
            </a:r>
            <a:br>
              <a:rPr sz="1100"/>
            </a:br>
            <a:r>
              <a:rPr sz="1100"/>
              <a:t>Generation</a:t>
            </a:r>
          </a:p>
        </p:txBody>
      </p:sp>
      <p:sp>
        <p:nvSpPr>
          <p:cNvPr id="25" name="TextBox 24"/>
          <p:cNvSpPr txBox="1"/>
          <p:nvPr/>
        </p:nvSpPr>
        <p:spPr>
          <a:xfrm>
            <a:off x="7126224" y="2489200"/>
            <a:ext cx="1051560" cy="661720"/>
          </a:xfrm>
          <a:prstGeom prst="rect">
            <a:avLst/>
          </a:prstGeom>
          <a:noFill/>
        </p:spPr>
        <p:txBody>
          <a:bodyPr wrap="square" lIns="0" tIns="0" rIns="0">
            <a:spAutoFit/>
          </a:bodyPr>
          <a:lstStyle/>
          <a:p>
            <a:pPr algn="ctr">
              <a:defRPr sz="690" b="0">
                <a:solidFill>
                  <a:srgbClr val="605E5C"/>
                </a:solidFill>
                <a:latin typeface="Aptos"/>
              </a:defRPr>
            </a:pPr>
            <a:r>
              <a:rPr sz="1000" dirty="0"/>
              <a:t>Role agents generate BRD, backlog, TDD and QA.</a:t>
            </a:r>
          </a:p>
        </p:txBody>
      </p:sp>
      <p:cxnSp>
        <p:nvCxnSpPr>
          <p:cNvPr id="26" name="Connector 25"/>
          <p:cNvCxnSpPr/>
          <p:nvPr/>
        </p:nvCxnSpPr>
        <p:spPr>
          <a:xfrm>
            <a:off x="7848600" y="1766824"/>
            <a:ext cx="685800" cy="0"/>
          </a:xfrm>
          <a:prstGeom prst="line">
            <a:avLst/>
          </a:prstGeom>
          <a:ln w="22860">
            <a:solidFill>
              <a:srgbClr val="00B7C3"/>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8854439" y="1574800"/>
            <a:ext cx="384048" cy="384048"/>
          </a:xfrm>
          <a:prstGeom prst="ellipse">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4</a:t>
            </a:r>
          </a:p>
        </p:txBody>
      </p:sp>
      <p:sp>
        <p:nvSpPr>
          <p:cNvPr id="28" name="TextBox 27"/>
          <p:cNvSpPr txBox="1"/>
          <p:nvPr/>
        </p:nvSpPr>
        <p:spPr>
          <a:xfrm>
            <a:off x="8671560" y="2032000"/>
            <a:ext cx="777240" cy="384721"/>
          </a:xfrm>
          <a:prstGeom prst="rect">
            <a:avLst/>
          </a:prstGeom>
          <a:noFill/>
        </p:spPr>
        <p:txBody>
          <a:bodyPr wrap="square" lIns="0" tIns="0" rIns="0">
            <a:spAutoFit/>
          </a:bodyPr>
          <a:lstStyle/>
          <a:p>
            <a:pPr algn="ctr">
              <a:defRPr sz="960" b="1">
                <a:solidFill>
                  <a:srgbClr val="201F1E"/>
                </a:solidFill>
                <a:latin typeface="Aptos"/>
              </a:defRPr>
            </a:pPr>
            <a:r>
              <a:rPr sz="1100"/>
              <a:t>Validation</a:t>
            </a:r>
            <a:br>
              <a:rPr sz="1100"/>
            </a:br>
            <a:r>
              <a:rPr sz="1100"/>
              <a:t>Check</a:t>
            </a:r>
          </a:p>
        </p:txBody>
      </p:sp>
      <p:sp>
        <p:nvSpPr>
          <p:cNvPr id="29" name="TextBox 28"/>
          <p:cNvSpPr txBox="1"/>
          <p:nvPr/>
        </p:nvSpPr>
        <p:spPr>
          <a:xfrm>
            <a:off x="8543543" y="2489200"/>
            <a:ext cx="1051560" cy="661720"/>
          </a:xfrm>
          <a:prstGeom prst="rect">
            <a:avLst/>
          </a:prstGeom>
          <a:noFill/>
        </p:spPr>
        <p:txBody>
          <a:bodyPr wrap="square" lIns="0" tIns="0" rIns="0">
            <a:spAutoFit/>
          </a:bodyPr>
          <a:lstStyle/>
          <a:p>
            <a:pPr algn="ctr">
              <a:defRPr sz="690" b="0">
                <a:solidFill>
                  <a:srgbClr val="605E5C"/>
                </a:solidFill>
                <a:latin typeface="Aptos"/>
              </a:defRPr>
            </a:pPr>
            <a:r>
              <a:rPr sz="1000"/>
              <a:t>Validator checks completeness, consistency and risks.</a:t>
            </a:r>
          </a:p>
        </p:txBody>
      </p:sp>
      <p:cxnSp>
        <p:nvCxnSpPr>
          <p:cNvPr id="30" name="Connector 29"/>
          <p:cNvCxnSpPr/>
          <p:nvPr/>
        </p:nvCxnSpPr>
        <p:spPr>
          <a:xfrm>
            <a:off x="9265919" y="1766824"/>
            <a:ext cx="685800" cy="0"/>
          </a:xfrm>
          <a:prstGeom prst="line">
            <a:avLst/>
          </a:prstGeom>
          <a:ln w="22860">
            <a:solidFill>
              <a:srgbClr val="FFB900"/>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0271760" y="1574800"/>
            <a:ext cx="384048" cy="384048"/>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5</a:t>
            </a:r>
          </a:p>
        </p:txBody>
      </p:sp>
      <p:sp>
        <p:nvSpPr>
          <p:cNvPr id="32" name="TextBox 31"/>
          <p:cNvSpPr txBox="1"/>
          <p:nvPr/>
        </p:nvSpPr>
        <p:spPr>
          <a:xfrm>
            <a:off x="10088880" y="2032000"/>
            <a:ext cx="777240" cy="384721"/>
          </a:xfrm>
          <a:prstGeom prst="rect">
            <a:avLst/>
          </a:prstGeom>
          <a:noFill/>
        </p:spPr>
        <p:txBody>
          <a:bodyPr wrap="square" lIns="0" tIns="0" rIns="0">
            <a:spAutoFit/>
          </a:bodyPr>
          <a:lstStyle/>
          <a:p>
            <a:pPr algn="ctr">
              <a:defRPr sz="960" b="1">
                <a:solidFill>
                  <a:srgbClr val="201F1E"/>
                </a:solidFill>
                <a:latin typeface="Aptos"/>
              </a:defRPr>
            </a:pPr>
            <a:r>
              <a:rPr sz="1100"/>
              <a:t>Review</a:t>
            </a:r>
            <a:br>
              <a:rPr sz="1100"/>
            </a:br>
            <a:r>
              <a:rPr sz="1100"/>
              <a:t>Gate</a:t>
            </a:r>
          </a:p>
        </p:txBody>
      </p:sp>
      <p:sp>
        <p:nvSpPr>
          <p:cNvPr id="33" name="TextBox 32"/>
          <p:cNvSpPr txBox="1"/>
          <p:nvPr/>
        </p:nvSpPr>
        <p:spPr>
          <a:xfrm>
            <a:off x="9960864" y="2489200"/>
            <a:ext cx="1051560" cy="507831"/>
          </a:xfrm>
          <a:prstGeom prst="rect">
            <a:avLst/>
          </a:prstGeom>
          <a:noFill/>
        </p:spPr>
        <p:txBody>
          <a:bodyPr wrap="square" lIns="0" tIns="0" rIns="0">
            <a:spAutoFit/>
          </a:bodyPr>
          <a:lstStyle/>
          <a:p>
            <a:pPr algn="ctr">
              <a:defRPr sz="690" b="0">
                <a:solidFill>
                  <a:srgbClr val="605E5C"/>
                </a:solidFill>
                <a:latin typeface="Aptos"/>
              </a:defRPr>
            </a:pPr>
            <a:r>
              <a:rPr sz="1000"/>
              <a:t>Approvers edit, accept, reject or regenerate.</a:t>
            </a:r>
          </a:p>
        </p:txBody>
      </p:sp>
      <p:sp>
        <p:nvSpPr>
          <p:cNvPr id="34" name="Rounded Rectangle 33"/>
          <p:cNvSpPr/>
          <p:nvPr/>
        </p:nvSpPr>
        <p:spPr>
          <a:xfrm>
            <a:off x="4005072" y="3672839"/>
            <a:ext cx="1417320" cy="841248"/>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005072" y="3672839"/>
            <a:ext cx="1417320" cy="5943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133088" y="3810000"/>
            <a:ext cx="1161288" cy="219456"/>
          </a:xfrm>
          <a:prstGeom prst="rect">
            <a:avLst/>
          </a:prstGeom>
          <a:noFill/>
        </p:spPr>
        <p:txBody>
          <a:bodyPr wrap="square" lIns="0" tIns="0" rIns="0">
            <a:spAutoFit/>
          </a:bodyPr>
          <a:lstStyle/>
          <a:p>
            <a:pPr algn="ctr">
              <a:defRPr sz="1040" b="1">
                <a:solidFill>
                  <a:srgbClr val="201F1E"/>
                </a:solidFill>
                <a:latin typeface="Aptos"/>
              </a:defRPr>
            </a:pPr>
            <a:r>
              <a:t>BA Agent</a:t>
            </a:r>
          </a:p>
        </p:txBody>
      </p:sp>
      <p:sp>
        <p:nvSpPr>
          <p:cNvPr id="37" name="TextBox 36"/>
          <p:cNvSpPr txBox="1"/>
          <p:nvPr/>
        </p:nvSpPr>
        <p:spPr>
          <a:xfrm>
            <a:off x="4133088" y="4102607"/>
            <a:ext cx="1161288" cy="338328"/>
          </a:xfrm>
          <a:prstGeom prst="rect">
            <a:avLst/>
          </a:prstGeom>
          <a:noFill/>
        </p:spPr>
        <p:txBody>
          <a:bodyPr wrap="square" lIns="0" tIns="0" rIns="0">
            <a:spAutoFit/>
          </a:bodyPr>
          <a:lstStyle/>
          <a:p>
            <a:pPr algn="ctr">
              <a:defRPr sz="720" b="0">
                <a:solidFill>
                  <a:srgbClr val="605E5C"/>
                </a:solidFill>
                <a:latin typeface="Aptos"/>
              </a:defRPr>
            </a:pPr>
            <a:r>
              <a:t>Creates BRD, scope, assumptions and acceptance criteria.</a:t>
            </a:r>
          </a:p>
        </p:txBody>
      </p:sp>
      <p:sp>
        <p:nvSpPr>
          <p:cNvPr id="38" name="Rounded Rectangle 37"/>
          <p:cNvSpPr/>
          <p:nvPr/>
        </p:nvSpPr>
        <p:spPr>
          <a:xfrm>
            <a:off x="5650992" y="3672839"/>
            <a:ext cx="1417320" cy="841248"/>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650992" y="3672839"/>
            <a:ext cx="1417320" cy="59436"/>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779008" y="3810000"/>
            <a:ext cx="1161288" cy="219456"/>
          </a:xfrm>
          <a:prstGeom prst="rect">
            <a:avLst/>
          </a:prstGeom>
          <a:noFill/>
        </p:spPr>
        <p:txBody>
          <a:bodyPr wrap="square" lIns="0" tIns="0" rIns="0">
            <a:spAutoFit/>
          </a:bodyPr>
          <a:lstStyle/>
          <a:p>
            <a:pPr algn="ctr">
              <a:defRPr sz="1040" b="1">
                <a:solidFill>
                  <a:srgbClr val="201F1E"/>
                </a:solidFill>
                <a:latin typeface="Aptos"/>
              </a:defRPr>
            </a:pPr>
            <a:r>
              <a:t>Scrum Agent</a:t>
            </a:r>
          </a:p>
        </p:txBody>
      </p:sp>
      <p:sp>
        <p:nvSpPr>
          <p:cNvPr id="41" name="TextBox 40"/>
          <p:cNvSpPr txBox="1"/>
          <p:nvPr/>
        </p:nvSpPr>
        <p:spPr>
          <a:xfrm>
            <a:off x="5779008" y="4102607"/>
            <a:ext cx="1161288" cy="338328"/>
          </a:xfrm>
          <a:prstGeom prst="rect">
            <a:avLst/>
          </a:prstGeom>
          <a:noFill/>
        </p:spPr>
        <p:txBody>
          <a:bodyPr wrap="square" lIns="0" tIns="0" rIns="0">
            <a:spAutoFit/>
          </a:bodyPr>
          <a:lstStyle/>
          <a:p>
            <a:pPr algn="ctr">
              <a:defRPr sz="720" b="0">
                <a:solidFill>
                  <a:srgbClr val="605E5C"/>
                </a:solidFill>
                <a:latin typeface="Aptos"/>
              </a:defRPr>
            </a:pPr>
            <a:r>
              <a:t>Creates epics, user stories, subtasks and estimates.</a:t>
            </a:r>
          </a:p>
        </p:txBody>
      </p:sp>
      <p:sp>
        <p:nvSpPr>
          <p:cNvPr id="42" name="Rounded Rectangle 41"/>
          <p:cNvSpPr/>
          <p:nvPr/>
        </p:nvSpPr>
        <p:spPr>
          <a:xfrm>
            <a:off x="7296912" y="3672839"/>
            <a:ext cx="1417320" cy="841248"/>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296912" y="3672839"/>
            <a:ext cx="1417320" cy="59436"/>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424927" y="3810000"/>
            <a:ext cx="1161288" cy="219456"/>
          </a:xfrm>
          <a:prstGeom prst="rect">
            <a:avLst/>
          </a:prstGeom>
          <a:noFill/>
        </p:spPr>
        <p:txBody>
          <a:bodyPr wrap="square" lIns="0" tIns="0" rIns="0">
            <a:spAutoFit/>
          </a:bodyPr>
          <a:lstStyle/>
          <a:p>
            <a:pPr algn="ctr">
              <a:defRPr sz="1040" b="1">
                <a:solidFill>
                  <a:srgbClr val="201F1E"/>
                </a:solidFill>
                <a:latin typeface="Aptos"/>
              </a:defRPr>
            </a:pPr>
            <a:r>
              <a:t>Tech Agent</a:t>
            </a:r>
          </a:p>
        </p:txBody>
      </p:sp>
      <p:sp>
        <p:nvSpPr>
          <p:cNvPr id="45" name="TextBox 44"/>
          <p:cNvSpPr txBox="1"/>
          <p:nvPr/>
        </p:nvSpPr>
        <p:spPr>
          <a:xfrm>
            <a:off x="7424927" y="4102607"/>
            <a:ext cx="1161288" cy="338328"/>
          </a:xfrm>
          <a:prstGeom prst="rect">
            <a:avLst/>
          </a:prstGeom>
          <a:noFill/>
        </p:spPr>
        <p:txBody>
          <a:bodyPr wrap="square" lIns="0" tIns="0" rIns="0">
            <a:spAutoFit/>
          </a:bodyPr>
          <a:lstStyle/>
          <a:p>
            <a:pPr algn="ctr">
              <a:defRPr sz="720" b="0">
                <a:solidFill>
                  <a:srgbClr val="605E5C"/>
                </a:solidFill>
                <a:latin typeface="Aptos"/>
              </a:defRPr>
            </a:pPr>
            <a:r>
              <a:t>Creates architecture notes, algorithm and data/API guidance.</a:t>
            </a:r>
          </a:p>
        </p:txBody>
      </p:sp>
      <p:sp>
        <p:nvSpPr>
          <p:cNvPr id="46" name="Rounded Rectangle 45"/>
          <p:cNvSpPr/>
          <p:nvPr/>
        </p:nvSpPr>
        <p:spPr>
          <a:xfrm>
            <a:off x="8942832" y="3672839"/>
            <a:ext cx="1417320" cy="841248"/>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8942832" y="3672839"/>
            <a:ext cx="1417320" cy="59436"/>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070848" y="3810000"/>
            <a:ext cx="1161288" cy="219456"/>
          </a:xfrm>
          <a:prstGeom prst="rect">
            <a:avLst/>
          </a:prstGeom>
          <a:noFill/>
        </p:spPr>
        <p:txBody>
          <a:bodyPr wrap="square" lIns="0" tIns="0" rIns="0">
            <a:spAutoFit/>
          </a:bodyPr>
          <a:lstStyle/>
          <a:p>
            <a:pPr algn="ctr">
              <a:defRPr sz="1040" b="1">
                <a:solidFill>
                  <a:srgbClr val="201F1E"/>
                </a:solidFill>
                <a:latin typeface="Aptos"/>
              </a:defRPr>
            </a:pPr>
            <a:r>
              <a:t>QA Agent</a:t>
            </a:r>
          </a:p>
        </p:txBody>
      </p:sp>
      <p:sp>
        <p:nvSpPr>
          <p:cNvPr id="49" name="TextBox 48"/>
          <p:cNvSpPr txBox="1"/>
          <p:nvPr/>
        </p:nvSpPr>
        <p:spPr>
          <a:xfrm>
            <a:off x="9070848" y="4102607"/>
            <a:ext cx="1161288" cy="338328"/>
          </a:xfrm>
          <a:prstGeom prst="rect">
            <a:avLst/>
          </a:prstGeom>
          <a:noFill/>
        </p:spPr>
        <p:txBody>
          <a:bodyPr wrap="square" lIns="0" tIns="0" rIns="0">
            <a:spAutoFit/>
          </a:bodyPr>
          <a:lstStyle/>
          <a:p>
            <a:pPr algn="ctr">
              <a:defRPr sz="720" b="0">
                <a:solidFill>
                  <a:srgbClr val="605E5C"/>
                </a:solidFill>
                <a:latin typeface="Aptos"/>
              </a:defRPr>
            </a:pPr>
            <a:r>
              <a:t>Creates test scenarios, edge cases and traceability.</a:t>
            </a:r>
          </a:p>
        </p:txBody>
      </p:sp>
      <p:sp>
        <p:nvSpPr>
          <p:cNvPr id="50" name="Rounded Rectangle 49"/>
          <p:cNvSpPr/>
          <p:nvPr/>
        </p:nvSpPr>
        <p:spPr>
          <a:xfrm>
            <a:off x="10588752" y="3672839"/>
            <a:ext cx="868680" cy="841248"/>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10588752" y="3672839"/>
            <a:ext cx="868680" cy="59436"/>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716768" y="3810000"/>
            <a:ext cx="612647" cy="219456"/>
          </a:xfrm>
          <a:prstGeom prst="rect">
            <a:avLst/>
          </a:prstGeom>
          <a:noFill/>
        </p:spPr>
        <p:txBody>
          <a:bodyPr wrap="square" lIns="0" tIns="0" rIns="0">
            <a:spAutoFit/>
          </a:bodyPr>
          <a:lstStyle/>
          <a:p>
            <a:pPr algn="ctr">
              <a:defRPr sz="1040" b="1">
                <a:solidFill>
                  <a:srgbClr val="201F1E"/>
                </a:solidFill>
                <a:latin typeface="Aptos"/>
              </a:defRPr>
            </a:pPr>
            <a:r>
              <a:t>Validator</a:t>
            </a:r>
          </a:p>
        </p:txBody>
      </p:sp>
      <p:sp>
        <p:nvSpPr>
          <p:cNvPr id="53" name="TextBox 52"/>
          <p:cNvSpPr txBox="1"/>
          <p:nvPr/>
        </p:nvSpPr>
        <p:spPr>
          <a:xfrm>
            <a:off x="10716768" y="4102607"/>
            <a:ext cx="612647" cy="338328"/>
          </a:xfrm>
          <a:prstGeom prst="rect">
            <a:avLst/>
          </a:prstGeom>
          <a:noFill/>
        </p:spPr>
        <p:txBody>
          <a:bodyPr wrap="square" lIns="0" tIns="0" rIns="0">
            <a:spAutoFit/>
          </a:bodyPr>
          <a:lstStyle/>
          <a:p>
            <a:pPr algn="ctr">
              <a:defRPr sz="680" b="0">
                <a:solidFill>
                  <a:srgbClr val="605E5C"/>
                </a:solidFill>
                <a:latin typeface="Aptos"/>
              </a:defRPr>
            </a:pPr>
            <a:r>
              <a:t>Flags gaps, conflicts and low confidence.</a:t>
            </a:r>
          </a:p>
        </p:txBody>
      </p:sp>
      <p:sp>
        <p:nvSpPr>
          <p:cNvPr id="54" name="Rounded Rectangle 53"/>
          <p:cNvSpPr/>
          <p:nvPr/>
        </p:nvSpPr>
        <p:spPr>
          <a:xfrm>
            <a:off x="4015232" y="4892040"/>
            <a:ext cx="7452360" cy="731520"/>
          </a:xfrm>
          <a:prstGeom prst="roundRect">
            <a:avLst/>
          </a:prstGeom>
          <a:solidFill>
            <a:srgbClr val="F0F6FF"/>
          </a:solidFill>
          <a:ln>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4198112" y="5102352"/>
            <a:ext cx="1143000" cy="256032"/>
          </a:xfrm>
          <a:prstGeom prst="round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ptos"/>
              </a:defRPr>
            </a:pPr>
            <a:r>
              <a:t>Guardrails</a:t>
            </a:r>
          </a:p>
        </p:txBody>
      </p:sp>
      <p:sp>
        <p:nvSpPr>
          <p:cNvPr id="56" name="TextBox 55"/>
          <p:cNvSpPr txBox="1"/>
          <p:nvPr/>
        </p:nvSpPr>
        <p:spPr>
          <a:xfrm>
            <a:off x="5514848" y="5047488"/>
            <a:ext cx="5715000" cy="347472"/>
          </a:xfrm>
          <a:prstGeom prst="rect">
            <a:avLst/>
          </a:prstGeom>
          <a:noFill/>
        </p:spPr>
        <p:txBody>
          <a:bodyPr wrap="square" lIns="0" tIns="0" rIns="0">
            <a:spAutoFit/>
          </a:bodyPr>
          <a:lstStyle/>
          <a:p>
            <a:pPr algn="l">
              <a:defRPr sz="930" b="0">
                <a:solidFill>
                  <a:srgbClr val="201F1E"/>
                </a:solidFill>
                <a:latin typeface="Aptos"/>
              </a:defRPr>
            </a:pPr>
            <a:r>
              <a:t>Prompt templates · JSON output schema · confidence score · source references · PII-aware handling · approval required before export</a:t>
            </a:r>
          </a:p>
        </p:txBody>
      </p:sp>
      <p:sp>
        <p:nvSpPr>
          <p:cNvPr id="57" name="Rounded Rectangle 56"/>
          <p:cNvSpPr/>
          <p:nvPr/>
        </p:nvSpPr>
        <p:spPr>
          <a:xfrm>
            <a:off x="4147312" y="5991352"/>
            <a:ext cx="1645920" cy="256032"/>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80" b="1">
                <a:solidFill>
                  <a:srgbClr val="FFFFFF"/>
                </a:solidFill>
                <a:latin typeface="Aptos"/>
              </a:defRPr>
            </a:pPr>
            <a:r>
              <a:t>Faster documentation</a:t>
            </a:r>
          </a:p>
        </p:txBody>
      </p:sp>
      <p:sp>
        <p:nvSpPr>
          <p:cNvPr id="58" name="Rounded Rectangle 57"/>
          <p:cNvSpPr/>
          <p:nvPr/>
        </p:nvSpPr>
        <p:spPr>
          <a:xfrm>
            <a:off x="5994400" y="5991352"/>
            <a:ext cx="1645920" cy="256032"/>
          </a:xfrm>
          <a:prstGeom prst="round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80" b="1">
                <a:solidFill>
                  <a:srgbClr val="FFFFFF"/>
                </a:solidFill>
                <a:latin typeface="Aptos"/>
              </a:defRPr>
            </a:pPr>
            <a:r>
              <a:t>Consistent handoffs</a:t>
            </a:r>
          </a:p>
        </p:txBody>
      </p:sp>
      <p:sp>
        <p:nvSpPr>
          <p:cNvPr id="59" name="Rounded Rectangle 58"/>
          <p:cNvSpPr/>
          <p:nvPr/>
        </p:nvSpPr>
        <p:spPr>
          <a:xfrm>
            <a:off x="7841487" y="5991352"/>
            <a:ext cx="1645920" cy="256032"/>
          </a:xfrm>
          <a:prstGeom prst="round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80" b="1">
                <a:solidFill>
                  <a:srgbClr val="FFFFFF"/>
                </a:solidFill>
                <a:latin typeface="Aptos"/>
              </a:defRPr>
            </a:pPr>
            <a:r>
              <a:t>Traceable decisions</a:t>
            </a:r>
          </a:p>
        </p:txBody>
      </p:sp>
      <p:sp>
        <p:nvSpPr>
          <p:cNvPr id="60" name="Rounded Rectangle 59"/>
          <p:cNvSpPr/>
          <p:nvPr/>
        </p:nvSpPr>
        <p:spPr>
          <a:xfrm>
            <a:off x="9688576" y="5991352"/>
            <a:ext cx="1645920" cy="256032"/>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80" b="1">
                <a:solidFill>
                  <a:srgbClr val="FFFFFF"/>
                </a:solidFill>
                <a:latin typeface="Aptos"/>
              </a:defRPr>
            </a:pPr>
            <a:r>
              <a:t>Lower AI risk</a:t>
            </a:r>
          </a:p>
        </p:txBody>
      </p:sp>
      <p:sp>
        <p:nvSpPr>
          <p:cNvPr id="62" name="TextBox 61"/>
          <p:cNvSpPr txBox="1"/>
          <p:nvPr/>
        </p:nvSpPr>
        <p:spPr>
          <a:xfrm>
            <a:off x="11231880" y="6615176"/>
            <a:ext cx="502920" cy="156966"/>
          </a:xfrm>
          <a:prstGeom prst="rect">
            <a:avLst/>
          </a:prstGeom>
          <a:noFill/>
        </p:spPr>
        <p:txBody>
          <a:bodyPr wrap="square" lIns="0" tIns="0" rIns="0">
            <a:spAutoFit/>
          </a:bodyPr>
          <a:lstStyle/>
          <a:p>
            <a:pPr algn="r">
              <a:defRPr sz="720" b="0">
                <a:solidFill>
                  <a:srgbClr val="605E5C"/>
                </a:solidFill>
                <a:latin typeface="Aptos"/>
              </a:defRPr>
            </a:pPr>
            <a:r>
              <a:rPr lang="en-IN" dirty="0"/>
              <a:t>5</a:t>
            </a:r>
            <a:endParaRPr dirty="0"/>
          </a:p>
        </p:txBody>
      </p:sp>
      <p:pic>
        <p:nvPicPr>
          <p:cNvPr id="64" name="Picture 6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5171" y="759320"/>
            <a:ext cx="1235515" cy="428351"/>
          </a:xfrm>
          <a:prstGeom prst="rect">
            <a:avLst/>
          </a:prstGeom>
        </p:spPr>
      </p:pic>
      <p:sp>
        <p:nvSpPr>
          <p:cNvPr id="4" name="Footer Placeholder 3">
            <a:extLst>
              <a:ext uri="{FF2B5EF4-FFF2-40B4-BE49-F238E27FC236}">
                <a16:creationId xmlns:a16="http://schemas.microsoft.com/office/drawing/2014/main" id="{27A5BD8F-4582-5697-99C9-1191F9A40EFA}"/>
              </a:ext>
            </a:extLst>
          </p:cNvPr>
          <p:cNvSpPr>
            <a:spLocks noGrp="1"/>
          </p:cNvSpPr>
          <p:nvPr>
            <p:ph type="ftr" sz="quarter" idx="11"/>
          </p:nvPr>
        </p:nvSpPr>
        <p:spPr>
          <a:xfrm>
            <a:off x="3124200" y="6514465"/>
            <a:ext cx="8105648" cy="365125"/>
          </a:xfrm>
        </p:spPr>
        <p:txBody>
          <a:bodyPr/>
          <a:lstStyle/>
          <a:p>
            <a:r>
              <a:rPr lang="en-US" dirty="0"/>
              <a:t>Nexa.ai | Microsoft Build AI | Theme 01: AI at Work — Productivity &amp; Teamwork Reimagined</a:t>
            </a:r>
          </a:p>
        </p:txBody>
      </p:sp>
    </p:spTree>
    <p:extLst>
      <p:ext uri="{BB962C8B-B14F-4D97-AF65-F5344CB8AC3E}">
        <p14:creationId xmlns:p14="http://schemas.microsoft.com/office/powerpoint/2010/main" val="1467483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1000" y="151660"/>
            <a:ext cx="2748280" cy="477054"/>
          </a:xfrm>
          <a:prstGeom prst="rect">
            <a:avLst/>
          </a:prstGeom>
          <a:noFill/>
        </p:spPr>
        <p:txBody>
          <a:bodyPr wrap="square" lIns="0" tIns="0" rIns="0">
            <a:spAutoFit/>
          </a:bodyPr>
          <a:lstStyle/>
          <a:p>
            <a:pPr algn="l">
              <a:defRPr sz="2800" b="1">
                <a:solidFill>
                  <a:srgbClr val="201F1E"/>
                </a:solidFill>
                <a:latin typeface="Aptos"/>
              </a:defRPr>
            </a:pPr>
            <a:r>
              <a:rPr dirty="0"/>
              <a:t>Demo Screen</a:t>
            </a:r>
            <a:r>
              <a:rPr lang="en-IN" dirty="0"/>
              <a:t>s</a:t>
            </a:r>
            <a:endParaRPr dirty="0"/>
          </a:p>
        </p:txBody>
      </p:sp>
      <p:sp>
        <p:nvSpPr>
          <p:cNvPr id="33" name="TextBox 32"/>
          <p:cNvSpPr txBox="1"/>
          <p:nvPr/>
        </p:nvSpPr>
        <p:spPr>
          <a:xfrm>
            <a:off x="11384280" y="6547104"/>
            <a:ext cx="320040" cy="164592"/>
          </a:xfrm>
          <a:prstGeom prst="rect">
            <a:avLst/>
          </a:prstGeom>
          <a:noFill/>
        </p:spPr>
        <p:txBody>
          <a:bodyPr wrap="square" lIns="0" tIns="0" rIns="0">
            <a:spAutoFit/>
          </a:bodyPr>
          <a:lstStyle/>
          <a:p>
            <a:pPr algn="r">
              <a:defRPr sz="750" b="0">
                <a:solidFill>
                  <a:srgbClr val="605E5C"/>
                </a:solidFill>
                <a:latin typeface="Aptos"/>
              </a:defRPr>
            </a:pPr>
            <a:r>
              <a:t>6</a:t>
            </a:r>
          </a:p>
        </p:txBody>
      </p:sp>
      <p:sp>
        <p:nvSpPr>
          <p:cNvPr id="34" name="Footer Placeholder 33">
            <a:extLst>
              <a:ext uri="{FF2B5EF4-FFF2-40B4-BE49-F238E27FC236}">
                <a16:creationId xmlns:a16="http://schemas.microsoft.com/office/drawing/2014/main" id="{F42711C0-CB50-FE4D-62CF-1F19EF7AA078}"/>
              </a:ext>
            </a:extLst>
          </p:cNvPr>
          <p:cNvSpPr>
            <a:spLocks noGrp="1"/>
          </p:cNvSpPr>
          <p:nvPr>
            <p:ph type="ftr" sz="quarter" idx="11"/>
          </p:nvPr>
        </p:nvSpPr>
        <p:spPr>
          <a:xfrm>
            <a:off x="2768600" y="6492875"/>
            <a:ext cx="6888480" cy="365125"/>
          </a:xfrm>
        </p:spPr>
        <p:txBody>
          <a:bodyPr/>
          <a:lstStyle/>
          <a:p>
            <a:r>
              <a:rPr lang="en-US" dirty="0"/>
              <a:t>Nexa.ai | Microsoft Build AI | Theme 01: AI at Work — Productivity &amp; Teamwork Reimagined</a:t>
            </a:r>
          </a:p>
        </p:txBody>
      </p:sp>
      <p:pic>
        <p:nvPicPr>
          <p:cNvPr id="36" name="Picture 35">
            <a:extLst>
              <a:ext uri="{FF2B5EF4-FFF2-40B4-BE49-F238E27FC236}">
                <a16:creationId xmlns:a16="http://schemas.microsoft.com/office/drawing/2014/main" id="{F0FE0310-D909-9A1D-668C-7D7ED438DD4C}"/>
              </a:ext>
            </a:extLst>
          </p:cNvPr>
          <p:cNvPicPr>
            <a:picLocks noChangeAspect="1"/>
          </p:cNvPicPr>
          <p:nvPr/>
        </p:nvPicPr>
        <p:blipFill>
          <a:blip r:embed="rId2"/>
          <a:stretch>
            <a:fillRect/>
          </a:stretch>
        </p:blipFill>
        <p:spPr>
          <a:xfrm>
            <a:off x="564893" y="576072"/>
            <a:ext cx="5216252" cy="2813301"/>
          </a:xfrm>
          <a:prstGeom prst="rect">
            <a:avLst/>
          </a:prstGeom>
        </p:spPr>
      </p:pic>
      <p:pic>
        <p:nvPicPr>
          <p:cNvPr id="40" name="Picture 39">
            <a:extLst>
              <a:ext uri="{FF2B5EF4-FFF2-40B4-BE49-F238E27FC236}">
                <a16:creationId xmlns:a16="http://schemas.microsoft.com/office/drawing/2014/main" id="{9A2EF22A-E814-EDF7-00F9-AF075818110B}"/>
              </a:ext>
            </a:extLst>
          </p:cNvPr>
          <p:cNvPicPr>
            <a:picLocks noChangeAspect="1"/>
          </p:cNvPicPr>
          <p:nvPr/>
        </p:nvPicPr>
        <p:blipFill>
          <a:blip r:embed="rId3"/>
          <a:stretch>
            <a:fillRect/>
          </a:stretch>
        </p:blipFill>
        <p:spPr>
          <a:xfrm>
            <a:off x="564893" y="3523850"/>
            <a:ext cx="5133444" cy="2875747"/>
          </a:xfrm>
          <a:prstGeom prst="rect">
            <a:avLst/>
          </a:prstGeom>
        </p:spPr>
      </p:pic>
      <p:pic>
        <p:nvPicPr>
          <p:cNvPr id="42" name="Picture 41">
            <a:extLst>
              <a:ext uri="{FF2B5EF4-FFF2-40B4-BE49-F238E27FC236}">
                <a16:creationId xmlns:a16="http://schemas.microsoft.com/office/drawing/2014/main" id="{4CA52271-DF82-EFEB-8179-1E0CFCC2AA0D}"/>
              </a:ext>
            </a:extLst>
          </p:cNvPr>
          <p:cNvPicPr>
            <a:picLocks noChangeAspect="1"/>
          </p:cNvPicPr>
          <p:nvPr/>
        </p:nvPicPr>
        <p:blipFill>
          <a:blip r:embed="rId4"/>
          <a:stretch>
            <a:fillRect/>
          </a:stretch>
        </p:blipFill>
        <p:spPr>
          <a:xfrm>
            <a:off x="6410856" y="612648"/>
            <a:ext cx="5133444" cy="2875746"/>
          </a:xfrm>
          <a:prstGeom prst="rect">
            <a:avLst/>
          </a:prstGeom>
        </p:spPr>
      </p:pic>
      <p:pic>
        <p:nvPicPr>
          <p:cNvPr id="44" name="Picture 43">
            <a:extLst>
              <a:ext uri="{FF2B5EF4-FFF2-40B4-BE49-F238E27FC236}">
                <a16:creationId xmlns:a16="http://schemas.microsoft.com/office/drawing/2014/main" id="{BE9B21C8-1285-82BE-BE7B-6CFB908BD45D}"/>
              </a:ext>
            </a:extLst>
          </p:cNvPr>
          <p:cNvPicPr>
            <a:picLocks noChangeAspect="1"/>
          </p:cNvPicPr>
          <p:nvPr/>
        </p:nvPicPr>
        <p:blipFill>
          <a:blip r:embed="rId5"/>
          <a:stretch>
            <a:fillRect/>
          </a:stretch>
        </p:blipFill>
        <p:spPr>
          <a:xfrm>
            <a:off x="6450637" y="3624720"/>
            <a:ext cx="5093663" cy="287574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1064240" y="320040"/>
            <a:ext cx="164592" cy="164592"/>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265408" y="448056"/>
            <a:ext cx="164592" cy="164592"/>
          </a:xfrm>
          <a:prstGeom prst="round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1466576" y="576072"/>
            <a:ext cx="164592" cy="164592"/>
          </a:xfrm>
          <a:prstGeom prst="round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20040"/>
            <a:ext cx="9509760" cy="477054"/>
          </a:xfrm>
          <a:prstGeom prst="rect">
            <a:avLst/>
          </a:prstGeom>
          <a:noFill/>
        </p:spPr>
        <p:txBody>
          <a:bodyPr wrap="square" lIns="0" tIns="0" rIns="0">
            <a:spAutoFit/>
          </a:bodyPr>
          <a:lstStyle/>
          <a:p>
            <a:pPr algn="l">
              <a:defRPr sz="2800" b="1">
                <a:solidFill>
                  <a:srgbClr val="201F1E"/>
                </a:solidFill>
                <a:latin typeface="Aptos"/>
              </a:defRPr>
            </a:pPr>
            <a:r>
              <a:rPr dirty="0"/>
              <a:t>Demo Screen </a:t>
            </a:r>
            <a:r>
              <a:rPr lang="en-IN" dirty="0"/>
              <a:t>– Project Pipeline</a:t>
            </a:r>
            <a:endParaRPr dirty="0"/>
          </a:p>
        </p:txBody>
      </p:sp>
      <p:sp>
        <p:nvSpPr>
          <p:cNvPr id="36" name="TextBox 35"/>
          <p:cNvSpPr txBox="1"/>
          <p:nvPr/>
        </p:nvSpPr>
        <p:spPr>
          <a:xfrm>
            <a:off x="11384280" y="6547104"/>
            <a:ext cx="320040" cy="164592"/>
          </a:xfrm>
          <a:prstGeom prst="rect">
            <a:avLst/>
          </a:prstGeom>
          <a:noFill/>
        </p:spPr>
        <p:txBody>
          <a:bodyPr wrap="square" lIns="0" tIns="0" rIns="0">
            <a:spAutoFit/>
          </a:bodyPr>
          <a:lstStyle/>
          <a:p>
            <a:pPr algn="r">
              <a:defRPr sz="750" b="0">
                <a:solidFill>
                  <a:srgbClr val="605E5C"/>
                </a:solidFill>
                <a:latin typeface="Aptos"/>
              </a:defRPr>
            </a:pPr>
            <a:r>
              <a:t>7</a:t>
            </a:r>
          </a:p>
        </p:txBody>
      </p:sp>
      <p:sp>
        <p:nvSpPr>
          <p:cNvPr id="37" name="Footer Placeholder 36">
            <a:extLst>
              <a:ext uri="{FF2B5EF4-FFF2-40B4-BE49-F238E27FC236}">
                <a16:creationId xmlns:a16="http://schemas.microsoft.com/office/drawing/2014/main" id="{316F2DB5-9187-02E0-2628-6CAE9595169D}"/>
              </a:ext>
            </a:extLst>
          </p:cNvPr>
          <p:cNvSpPr>
            <a:spLocks noGrp="1"/>
          </p:cNvSpPr>
          <p:nvPr>
            <p:ph type="ftr" sz="quarter" idx="11"/>
          </p:nvPr>
        </p:nvSpPr>
        <p:spPr>
          <a:xfrm>
            <a:off x="1" y="6488494"/>
            <a:ext cx="12191694" cy="365125"/>
          </a:xfrm>
        </p:spPr>
        <p:txBody>
          <a:bodyPr/>
          <a:lstStyle/>
          <a:p>
            <a:r>
              <a:rPr lang="en-US" dirty="0"/>
              <a:t>Nexa.ai | Microsoft Build AI | Theme 01: AI at Work — Productivity &amp; Teamwork Reimagined</a:t>
            </a:r>
          </a:p>
        </p:txBody>
      </p:sp>
      <p:pic>
        <p:nvPicPr>
          <p:cNvPr id="45" name="Picture 44">
            <a:extLst>
              <a:ext uri="{FF2B5EF4-FFF2-40B4-BE49-F238E27FC236}">
                <a16:creationId xmlns:a16="http://schemas.microsoft.com/office/drawing/2014/main" id="{33E0B2BD-28CC-33E3-C855-BFB94E0610E8}"/>
              </a:ext>
            </a:extLst>
          </p:cNvPr>
          <p:cNvPicPr>
            <a:picLocks noChangeAspect="1"/>
          </p:cNvPicPr>
          <p:nvPr/>
        </p:nvPicPr>
        <p:blipFill>
          <a:blip r:embed="rId2"/>
          <a:stretch>
            <a:fillRect/>
          </a:stretch>
        </p:blipFill>
        <p:spPr>
          <a:xfrm>
            <a:off x="1290320" y="988722"/>
            <a:ext cx="9362906" cy="525171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46120" cy="6858000"/>
          </a:xfrm>
          <a:prstGeom prst="rect">
            <a:avLst/>
          </a:prstGeom>
          <a:solidFill>
            <a:srgbClr val="EFF6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767840"/>
            <a:ext cx="2240280" cy="868680"/>
          </a:xfrm>
          <a:prstGeom prst="rect">
            <a:avLst/>
          </a:prstGeom>
          <a:noFill/>
        </p:spPr>
        <p:txBody>
          <a:bodyPr wrap="square" lIns="0" tIns="0" rIns="0">
            <a:spAutoFit/>
          </a:bodyPr>
          <a:lstStyle/>
          <a:p>
            <a:pPr algn="l">
              <a:defRPr sz="2200" b="1">
                <a:solidFill>
                  <a:srgbClr val="201F1E"/>
                </a:solidFill>
                <a:latin typeface="Aptos"/>
              </a:defRPr>
            </a:pPr>
            <a:r>
              <a:rPr dirty="0"/>
              <a:t>Impact &amp; success metrics</a:t>
            </a:r>
          </a:p>
        </p:txBody>
      </p:sp>
      <p:sp>
        <p:nvSpPr>
          <p:cNvPr id="6" name="TextBox 5"/>
          <p:cNvSpPr txBox="1"/>
          <p:nvPr/>
        </p:nvSpPr>
        <p:spPr>
          <a:xfrm>
            <a:off x="594360" y="2693416"/>
            <a:ext cx="2240280" cy="723275"/>
          </a:xfrm>
          <a:prstGeom prst="rect">
            <a:avLst/>
          </a:prstGeom>
          <a:noFill/>
        </p:spPr>
        <p:txBody>
          <a:bodyPr wrap="square" lIns="0" tIns="0" rIns="0">
            <a:spAutoFit/>
          </a:bodyPr>
          <a:lstStyle/>
          <a:p>
            <a:pPr algn="l">
              <a:defRPr sz="1050" b="0">
                <a:solidFill>
                  <a:srgbClr val="605E5C"/>
                </a:solidFill>
                <a:latin typeface="Aptos"/>
              </a:defRPr>
            </a:pPr>
            <a:r>
              <a:rPr sz="1100" dirty="0"/>
              <a:t>Measurable outcomes for productivity, quality, governance and enterprise adoption — built for a realistic Power Platform POC.</a:t>
            </a:r>
          </a:p>
        </p:txBody>
      </p:sp>
      <p:sp>
        <p:nvSpPr>
          <p:cNvPr id="7" name="Rounded Rectangle 6"/>
          <p:cNvSpPr/>
          <p:nvPr/>
        </p:nvSpPr>
        <p:spPr>
          <a:xfrm>
            <a:off x="594360" y="3753104"/>
            <a:ext cx="2057400" cy="310896"/>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sz="1200"/>
              <a:t>Productivity</a:t>
            </a:r>
          </a:p>
        </p:txBody>
      </p:sp>
      <p:sp>
        <p:nvSpPr>
          <p:cNvPr id="8" name="Rounded Rectangle 7"/>
          <p:cNvSpPr/>
          <p:nvPr/>
        </p:nvSpPr>
        <p:spPr>
          <a:xfrm>
            <a:off x="594360" y="4173728"/>
            <a:ext cx="2057400" cy="310896"/>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sz="1200"/>
              <a:t>Quality</a:t>
            </a:r>
          </a:p>
        </p:txBody>
      </p:sp>
      <p:sp>
        <p:nvSpPr>
          <p:cNvPr id="9" name="Rounded Rectangle 8"/>
          <p:cNvSpPr/>
          <p:nvPr/>
        </p:nvSpPr>
        <p:spPr>
          <a:xfrm>
            <a:off x="594360" y="4594352"/>
            <a:ext cx="2057400" cy="310896"/>
          </a:xfrm>
          <a:prstGeom prst="round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sz="1200"/>
              <a:t>Governance</a:t>
            </a:r>
          </a:p>
        </p:txBody>
      </p:sp>
      <p:sp>
        <p:nvSpPr>
          <p:cNvPr id="10" name="Rounded Rectangle 9"/>
          <p:cNvSpPr/>
          <p:nvPr/>
        </p:nvSpPr>
        <p:spPr>
          <a:xfrm>
            <a:off x="594360" y="5014976"/>
            <a:ext cx="2057400" cy="310896"/>
          </a:xfrm>
          <a:prstGeom prst="round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sz="1200"/>
              <a:t>Adoption</a:t>
            </a:r>
          </a:p>
        </p:txBody>
      </p:sp>
      <p:sp>
        <p:nvSpPr>
          <p:cNvPr id="11" name="Rounded Rectangle 10"/>
          <p:cNvSpPr/>
          <p:nvPr/>
        </p:nvSpPr>
        <p:spPr>
          <a:xfrm>
            <a:off x="629322" y="1252728"/>
            <a:ext cx="2057400" cy="347472"/>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sz="1400" dirty="0"/>
              <a:t>Impact Metrics</a:t>
            </a:r>
          </a:p>
        </p:txBody>
      </p:sp>
      <p:sp>
        <p:nvSpPr>
          <p:cNvPr id="13" name="TextBox 12"/>
          <p:cNvSpPr txBox="1"/>
          <p:nvPr/>
        </p:nvSpPr>
        <p:spPr>
          <a:xfrm>
            <a:off x="4050791" y="530129"/>
            <a:ext cx="7452360" cy="538609"/>
          </a:xfrm>
          <a:prstGeom prst="rect">
            <a:avLst/>
          </a:prstGeom>
          <a:noFill/>
        </p:spPr>
        <p:txBody>
          <a:bodyPr wrap="square" lIns="0" tIns="0" rIns="0">
            <a:spAutoFit/>
          </a:bodyPr>
          <a:lstStyle/>
          <a:p>
            <a:pPr algn="l">
              <a:defRPr sz="1220" b="0">
                <a:solidFill>
                  <a:srgbClr val="605E5C"/>
                </a:solidFill>
                <a:latin typeface="Aptos"/>
              </a:defRPr>
            </a:pPr>
            <a:r>
              <a:rPr sz="1600" b="1" dirty="0"/>
              <a:t>Nexa.ai </a:t>
            </a:r>
            <a:r>
              <a:rPr sz="1600" dirty="0"/>
              <a:t>is designed to prove value quickly: reduce manual pre-development effort, improve traceability, and make AI outputs accountable.</a:t>
            </a:r>
          </a:p>
        </p:txBody>
      </p:sp>
      <p:sp>
        <p:nvSpPr>
          <p:cNvPr id="14" name="Rounded Rectangle 13"/>
          <p:cNvSpPr/>
          <p:nvPr/>
        </p:nvSpPr>
        <p:spPr>
          <a:xfrm>
            <a:off x="3892296" y="1410715"/>
            <a:ext cx="1691640" cy="1625093"/>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892296" y="1410716"/>
            <a:ext cx="1691640" cy="5943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29456" y="1547876"/>
            <a:ext cx="1417320" cy="230832"/>
          </a:xfrm>
          <a:prstGeom prst="rect">
            <a:avLst/>
          </a:prstGeom>
          <a:noFill/>
        </p:spPr>
        <p:txBody>
          <a:bodyPr wrap="square" lIns="0" tIns="0" rIns="0">
            <a:spAutoFit/>
          </a:bodyPr>
          <a:lstStyle/>
          <a:p>
            <a:pPr algn="ctr">
              <a:defRPr sz="980" b="1">
                <a:solidFill>
                  <a:srgbClr val="605E5C"/>
                </a:solidFill>
                <a:latin typeface="Aptos"/>
              </a:defRPr>
            </a:pPr>
            <a:r>
              <a:rPr sz="1200" dirty="0"/>
              <a:t>Cycle Time</a:t>
            </a:r>
          </a:p>
        </p:txBody>
      </p:sp>
      <p:sp>
        <p:nvSpPr>
          <p:cNvPr id="17" name="TextBox 16"/>
          <p:cNvSpPr txBox="1"/>
          <p:nvPr/>
        </p:nvSpPr>
        <p:spPr>
          <a:xfrm>
            <a:off x="4029456" y="1822197"/>
            <a:ext cx="1417320" cy="384048"/>
          </a:xfrm>
          <a:prstGeom prst="rect">
            <a:avLst/>
          </a:prstGeom>
          <a:noFill/>
        </p:spPr>
        <p:txBody>
          <a:bodyPr wrap="square" lIns="0" tIns="0" rIns="0">
            <a:spAutoFit/>
          </a:bodyPr>
          <a:lstStyle/>
          <a:p>
            <a:pPr algn="ctr">
              <a:defRPr sz="2300" b="1">
                <a:solidFill>
                  <a:srgbClr val="0078D4"/>
                </a:solidFill>
                <a:latin typeface="Aptos"/>
              </a:defRPr>
            </a:pPr>
            <a:r>
              <a:t>↓ 60–70%</a:t>
            </a:r>
          </a:p>
        </p:txBody>
      </p:sp>
      <p:sp>
        <p:nvSpPr>
          <p:cNvPr id="18" name="TextBox 17"/>
          <p:cNvSpPr txBox="1"/>
          <p:nvPr/>
        </p:nvSpPr>
        <p:spPr>
          <a:xfrm>
            <a:off x="4029456" y="2261109"/>
            <a:ext cx="1417320" cy="507831"/>
          </a:xfrm>
          <a:prstGeom prst="rect">
            <a:avLst/>
          </a:prstGeom>
          <a:noFill/>
        </p:spPr>
        <p:txBody>
          <a:bodyPr wrap="square" lIns="0" tIns="0" rIns="0">
            <a:spAutoFit/>
          </a:bodyPr>
          <a:lstStyle/>
          <a:p>
            <a:pPr algn="ctr">
              <a:defRPr sz="780" b="0">
                <a:solidFill>
                  <a:srgbClr val="201F1E"/>
                </a:solidFill>
                <a:latin typeface="Aptos"/>
              </a:defRPr>
            </a:pPr>
            <a:r>
              <a:rPr sz="1000" dirty="0"/>
              <a:t>From transcript to first approved BRD, stories, TDD and QA drafts.</a:t>
            </a:r>
          </a:p>
        </p:txBody>
      </p:sp>
      <p:sp>
        <p:nvSpPr>
          <p:cNvPr id="19" name="Rounded Rectangle 18"/>
          <p:cNvSpPr/>
          <p:nvPr/>
        </p:nvSpPr>
        <p:spPr>
          <a:xfrm>
            <a:off x="5830824" y="1410716"/>
            <a:ext cx="1691640" cy="1625092"/>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830824" y="1410716"/>
            <a:ext cx="1691640" cy="59436"/>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67984" y="1547876"/>
            <a:ext cx="1417320" cy="230832"/>
          </a:xfrm>
          <a:prstGeom prst="rect">
            <a:avLst/>
          </a:prstGeom>
          <a:noFill/>
        </p:spPr>
        <p:txBody>
          <a:bodyPr wrap="square" lIns="0" tIns="0" rIns="0">
            <a:spAutoFit/>
          </a:bodyPr>
          <a:lstStyle/>
          <a:p>
            <a:pPr algn="ctr">
              <a:defRPr sz="980" b="1">
                <a:solidFill>
                  <a:srgbClr val="605E5C"/>
                </a:solidFill>
                <a:latin typeface="Aptos"/>
              </a:defRPr>
            </a:pPr>
            <a:r>
              <a:rPr sz="1200"/>
              <a:t>Manual Effort</a:t>
            </a:r>
          </a:p>
        </p:txBody>
      </p:sp>
      <p:sp>
        <p:nvSpPr>
          <p:cNvPr id="22" name="TextBox 21"/>
          <p:cNvSpPr txBox="1"/>
          <p:nvPr/>
        </p:nvSpPr>
        <p:spPr>
          <a:xfrm>
            <a:off x="5967984" y="1822197"/>
            <a:ext cx="1417320" cy="384048"/>
          </a:xfrm>
          <a:prstGeom prst="rect">
            <a:avLst/>
          </a:prstGeom>
          <a:noFill/>
        </p:spPr>
        <p:txBody>
          <a:bodyPr wrap="square" lIns="0" tIns="0" rIns="0">
            <a:spAutoFit/>
          </a:bodyPr>
          <a:lstStyle/>
          <a:p>
            <a:pPr algn="ctr">
              <a:defRPr sz="2300" b="1">
                <a:solidFill>
                  <a:srgbClr val="5C2D91"/>
                </a:solidFill>
                <a:latin typeface="Aptos"/>
              </a:defRPr>
            </a:pPr>
            <a:r>
              <a:t>↓ 50%+</a:t>
            </a:r>
          </a:p>
        </p:txBody>
      </p:sp>
      <p:sp>
        <p:nvSpPr>
          <p:cNvPr id="23" name="TextBox 22"/>
          <p:cNvSpPr txBox="1"/>
          <p:nvPr/>
        </p:nvSpPr>
        <p:spPr>
          <a:xfrm>
            <a:off x="5967984" y="2261109"/>
            <a:ext cx="1417320" cy="661720"/>
          </a:xfrm>
          <a:prstGeom prst="rect">
            <a:avLst/>
          </a:prstGeom>
          <a:noFill/>
        </p:spPr>
        <p:txBody>
          <a:bodyPr wrap="square" lIns="0" tIns="0" rIns="0">
            <a:spAutoFit/>
          </a:bodyPr>
          <a:lstStyle/>
          <a:p>
            <a:pPr algn="ctr">
              <a:defRPr sz="780" b="0">
                <a:solidFill>
                  <a:srgbClr val="201F1E"/>
                </a:solidFill>
                <a:latin typeface="Aptos"/>
              </a:defRPr>
            </a:pPr>
            <a:r>
              <a:rPr sz="1000"/>
              <a:t>Less repeated documentation work across BA, Scrum, Tech and QA roles.</a:t>
            </a:r>
          </a:p>
        </p:txBody>
      </p:sp>
      <p:sp>
        <p:nvSpPr>
          <p:cNvPr id="24" name="Rounded Rectangle 23"/>
          <p:cNvSpPr/>
          <p:nvPr/>
        </p:nvSpPr>
        <p:spPr>
          <a:xfrm>
            <a:off x="7769352" y="1410716"/>
            <a:ext cx="1691640" cy="1625092"/>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769352" y="1410716"/>
            <a:ext cx="1691640" cy="59436"/>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906512" y="1547876"/>
            <a:ext cx="1417320" cy="230832"/>
          </a:xfrm>
          <a:prstGeom prst="rect">
            <a:avLst/>
          </a:prstGeom>
          <a:noFill/>
        </p:spPr>
        <p:txBody>
          <a:bodyPr wrap="square" lIns="0" tIns="0" rIns="0">
            <a:spAutoFit/>
          </a:bodyPr>
          <a:lstStyle/>
          <a:p>
            <a:pPr algn="ctr">
              <a:defRPr sz="980" b="1">
                <a:solidFill>
                  <a:srgbClr val="605E5C"/>
                </a:solidFill>
                <a:latin typeface="Aptos"/>
              </a:defRPr>
            </a:pPr>
            <a:r>
              <a:rPr sz="1200"/>
              <a:t>Traceability</a:t>
            </a:r>
          </a:p>
        </p:txBody>
      </p:sp>
      <p:sp>
        <p:nvSpPr>
          <p:cNvPr id="27" name="TextBox 26"/>
          <p:cNvSpPr txBox="1"/>
          <p:nvPr/>
        </p:nvSpPr>
        <p:spPr>
          <a:xfrm>
            <a:off x="7906512" y="1822197"/>
            <a:ext cx="1417320" cy="384048"/>
          </a:xfrm>
          <a:prstGeom prst="rect">
            <a:avLst/>
          </a:prstGeom>
          <a:noFill/>
        </p:spPr>
        <p:txBody>
          <a:bodyPr wrap="square" lIns="0" tIns="0" rIns="0">
            <a:spAutoFit/>
          </a:bodyPr>
          <a:lstStyle/>
          <a:p>
            <a:pPr algn="ctr">
              <a:defRPr sz="2300" b="1">
                <a:solidFill>
                  <a:srgbClr val="00B7C3"/>
                </a:solidFill>
                <a:latin typeface="Aptos"/>
              </a:defRPr>
            </a:pPr>
            <a:r>
              <a:t>100%</a:t>
            </a:r>
          </a:p>
        </p:txBody>
      </p:sp>
      <p:sp>
        <p:nvSpPr>
          <p:cNvPr id="28" name="TextBox 27"/>
          <p:cNvSpPr txBox="1"/>
          <p:nvPr/>
        </p:nvSpPr>
        <p:spPr>
          <a:xfrm>
            <a:off x="7906512" y="2261109"/>
            <a:ext cx="1417320" cy="661720"/>
          </a:xfrm>
          <a:prstGeom prst="rect">
            <a:avLst/>
          </a:prstGeom>
          <a:noFill/>
        </p:spPr>
        <p:txBody>
          <a:bodyPr wrap="square" lIns="0" tIns="0" rIns="0">
            <a:spAutoFit/>
          </a:bodyPr>
          <a:lstStyle/>
          <a:p>
            <a:pPr algn="ctr">
              <a:defRPr sz="780" b="0">
                <a:solidFill>
                  <a:srgbClr val="201F1E"/>
                </a:solidFill>
                <a:latin typeface="Aptos"/>
              </a:defRPr>
            </a:pPr>
            <a:r>
              <a:rPr sz="1000"/>
              <a:t>Every story, design note and test case mapped back to requirement context.</a:t>
            </a:r>
          </a:p>
        </p:txBody>
      </p:sp>
      <p:sp>
        <p:nvSpPr>
          <p:cNvPr id="29" name="Rounded Rectangle 28"/>
          <p:cNvSpPr/>
          <p:nvPr/>
        </p:nvSpPr>
        <p:spPr>
          <a:xfrm>
            <a:off x="9707880" y="1410716"/>
            <a:ext cx="1691640" cy="1623982"/>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707880" y="1410716"/>
            <a:ext cx="1691640" cy="59436"/>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845040" y="1547876"/>
            <a:ext cx="1417320" cy="230832"/>
          </a:xfrm>
          <a:prstGeom prst="rect">
            <a:avLst/>
          </a:prstGeom>
          <a:noFill/>
        </p:spPr>
        <p:txBody>
          <a:bodyPr wrap="square" lIns="0" tIns="0" rIns="0">
            <a:spAutoFit/>
          </a:bodyPr>
          <a:lstStyle/>
          <a:p>
            <a:pPr algn="ctr">
              <a:defRPr sz="980" b="1">
                <a:solidFill>
                  <a:srgbClr val="605E5C"/>
                </a:solidFill>
                <a:latin typeface="Aptos"/>
              </a:defRPr>
            </a:pPr>
            <a:r>
              <a:rPr sz="1200"/>
              <a:t>Approval Control</a:t>
            </a:r>
          </a:p>
        </p:txBody>
      </p:sp>
      <p:sp>
        <p:nvSpPr>
          <p:cNvPr id="32" name="TextBox 31"/>
          <p:cNvSpPr txBox="1"/>
          <p:nvPr/>
        </p:nvSpPr>
        <p:spPr>
          <a:xfrm>
            <a:off x="9845040" y="1822197"/>
            <a:ext cx="1417320" cy="384048"/>
          </a:xfrm>
          <a:prstGeom prst="rect">
            <a:avLst/>
          </a:prstGeom>
          <a:noFill/>
        </p:spPr>
        <p:txBody>
          <a:bodyPr wrap="square" lIns="0" tIns="0" rIns="0">
            <a:spAutoFit/>
          </a:bodyPr>
          <a:lstStyle/>
          <a:p>
            <a:pPr algn="ctr">
              <a:defRPr sz="2300" b="1">
                <a:solidFill>
                  <a:srgbClr val="107C10"/>
                </a:solidFill>
                <a:latin typeface="Aptos"/>
              </a:defRPr>
            </a:pPr>
            <a:r>
              <a:t>100%</a:t>
            </a:r>
          </a:p>
        </p:txBody>
      </p:sp>
      <p:sp>
        <p:nvSpPr>
          <p:cNvPr id="33" name="TextBox 32"/>
          <p:cNvSpPr txBox="1"/>
          <p:nvPr/>
        </p:nvSpPr>
        <p:spPr>
          <a:xfrm>
            <a:off x="9845040" y="2261109"/>
            <a:ext cx="1417320" cy="661720"/>
          </a:xfrm>
          <a:prstGeom prst="rect">
            <a:avLst/>
          </a:prstGeom>
          <a:noFill/>
        </p:spPr>
        <p:txBody>
          <a:bodyPr wrap="square" lIns="0" tIns="0" rIns="0">
            <a:spAutoFit/>
          </a:bodyPr>
          <a:lstStyle/>
          <a:p>
            <a:pPr algn="ctr">
              <a:defRPr sz="780" b="0">
                <a:solidFill>
                  <a:srgbClr val="201F1E"/>
                </a:solidFill>
                <a:latin typeface="Aptos"/>
              </a:defRPr>
            </a:pPr>
            <a:r>
              <a:rPr sz="1000"/>
              <a:t>Human review gate before export, backlog creation or development handoff.</a:t>
            </a:r>
          </a:p>
        </p:txBody>
      </p:sp>
      <p:sp>
        <p:nvSpPr>
          <p:cNvPr id="34" name="Rounded Rectangle 33"/>
          <p:cNvSpPr/>
          <p:nvPr/>
        </p:nvSpPr>
        <p:spPr>
          <a:xfrm>
            <a:off x="3995928" y="3392424"/>
            <a:ext cx="7452360" cy="1115568"/>
          </a:xfrm>
          <a:prstGeom prst="roundRect">
            <a:avLst/>
          </a:prstGeom>
          <a:solidFill>
            <a:srgbClr val="FAF9F8"/>
          </a:solidFill>
          <a:ln>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4197096" y="3738374"/>
            <a:ext cx="1325880" cy="256032"/>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ptos"/>
              </a:defRPr>
            </a:pPr>
            <a:r>
              <a:rPr sz="1300" dirty="0"/>
              <a:t>Success</a:t>
            </a:r>
            <a:r>
              <a:rPr lang="en-US" sz="1300" dirty="0"/>
              <a:t> =</a:t>
            </a:r>
            <a:endParaRPr sz="1300" dirty="0"/>
          </a:p>
        </p:txBody>
      </p:sp>
      <p:sp>
        <p:nvSpPr>
          <p:cNvPr id="36" name="TextBox 35"/>
          <p:cNvSpPr txBox="1"/>
          <p:nvPr/>
        </p:nvSpPr>
        <p:spPr>
          <a:xfrm>
            <a:off x="5733288" y="3753104"/>
            <a:ext cx="5629656" cy="276999"/>
          </a:xfrm>
          <a:prstGeom prst="rect">
            <a:avLst/>
          </a:prstGeom>
          <a:noFill/>
        </p:spPr>
        <p:txBody>
          <a:bodyPr wrap="square" lIns="0" tIns="0" rIns="0">
            <a:spAutoFit/>
          </a:bodyPr>
          <a:lstStyle/>
          <a:p>
            <a:pPr algn="l">
              <a:defRPr sz="1500" b="1">
                <a:solidFill>
                  <a:srgbClr val="201F1E"/>
                </a:solidFill>
                <a:latin typeface="Aptos"/>
              </a:defRPr>
            </a:pPr>
            <a:r>
              <a:rPr dirty="0"/>
              <a:t>Speed + Quality + Governance + Microsoft Platform</a:t>
            </a:r>
            <a:r>
              <a:rPr lang="en-US" dirty="0"/>
              <a:t> </a:t>
            </a:r>
            <a:r>
              <a:rPr dirty="0"/>
              <a:t>Adoption</a:t>
            </a:r>
          </a:p>
        </p:txBody>
      </p:sp>
      <p:sp>
        <p:nvSpPr>
          <p:cNvPr id="37" name="TextBox 36"/>
          <p:cNvSpPr txBox="1"/>
          <p:nvPr/>
        </p:nvSpPr>
        <p:spPr>
          <a:xfrm>
            <a:off x="4215384" y="4176269"/>
            <a:ext cx="6967728" cy="228600"/>
          </a:xfrm>
          <a:prstGeom prst="rect">
            <a:avLst/>
          </a:prstGeom>
          <a:noFill/>
        </p:spPr>
        <p:txBody>
          <a:bodyPr wrap="square" lIns="0" tIns="0" rIns="0">
            <a:spAutoFit/>
          </a:bodyPr>
          <a:lstStyle/>
          <a:p>
            <a:pPr algn="ctr">
              <a:defRPr sz="950" b="0">
                <a:solidFill>
                  <a:srgbClr val="605E5C"/>
                </a:solidFill>
                <a:latin typeface="Aptos"/>
              </a:defRPr>
            </a:pPr>
            <a:r>
              <a:rPr dirty="0"/>
              <a:t>A working demo should show measurable handoff acceleration without removing human accountability from delivery decisions.</a:t>
            </a:r>
          </a:p>
        </p:txBody>
      </p:sp>
      <p:sp>
        <p:nvSpPr>
          <p:cNvPr id="38" name="Rounded Rectangle 37"/>
          <p:cNvSpPr/>
          <p:nvPr/>
        </p:nvSpPr>
        <p:spPr>
          <a:xfrm>
            <a:off x="4029456" y="5048647"/>
            <a:ext cx="1737360" cy="722377"/>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4139184" y="5155836"/>
            <a:ext cx="137160" cy="13716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349495" y="5149232"/>
            <a:ext cx="1298448" cy="201168"/>
          </a:xfrm>
          <a:prstGeom prst="rect">
            <a:avLst/>
          </a:prstGeom>
          <a:noFill/>
        </p:spPr>
        <p:txBody>
          <a:bodyPr wrap="square" lIns="0" tIns="0" rIns="0">
            <a:spAutoFit/>
          </a:bodyPr>
          <a:lstStyle/>
          <a:p>
            <a:pPr algn="l">
              <a:defRPr sz="930" b="1">
                <a:solidFill>
                  <a:srgbClr val="201F1E"/>
                </a:solidFill>
                <a:latin typeface="Aptos"/>
              </a:defRPr>
            </a:pPr>
            <a:r>
              <a:t>Pilot KPI 1</a:t>
            </a:r>
          </a:p>
        </p:txBody>
      </p:sp>
      <p:sp>
        <p:nvSpPr>
          <p:cNvPr id="41" name="TextBox 40"/>
          <p:cNvSpPr txBox="1"/>
          <p:nvPr/>
        </p:nvSpPr>
        <p:spPr>
          <a:xfrm>
            <a:off x="4335780" y="5322206"/>
            <a:ext cx="1298448" cy="415498"/>
          </a:xfrm>
          <a:prstGeom prst="rect">
            <a:avLst/>
          </a:prstGeom>
          <a:noFill/>
        </p:spPr>
        <p:txBody>
          <a:bodyPr wrap="square" lIns="0" tIns="0" rIns="0">
            <a:spAutoFit/>
          </a:bodyPr>
          <a:lstStyle/>
          <a:p>
            <a:pPr algn="l">
              <a:defRPr sz="750" b="0">
                <a:solidFill>
                  <a:srgbClr val="605E5C"/>
                </a:solidFill>
                <a:latin typeface="Aptos"/>
              </a:defRPr>
            </a:pPr>
            <a:r>
              <a:rPr sz="800" dirty="0"/>
              <a:t>Compare manual vs AI-assisted time for the same transcript.</a:t>
            </a:r>
          </a:p>
        </p:txBody>
      </p:sp>
      <p:sp>
        <p:nvSpPr>
          <p:cNvPr id="42" name="Rounded Rectangle 41"/>
          <p:cNvSpPr/>
          <p:nvPr/>
        </p:nvSpPr>
        <p:spPr>
          <a:xfrm>
            <a:off x="5949696" y="5048647"/>
            <a:ext cx="1737360" cy="732947"/>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054699" y="5155836"/>
            <a:ext cx="137160" cy="137160"/>
          </a:xfrm>
          <a:prstGeom prst="ellipse">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269735" y="5149232"/>
            <a:ext cx="1298448" cy="201168"/>
          </a:xfrm>
          <a:prstGeom prst="rect">
            <a:avLst/>
          </a:prstGeom>
          <a:noFill/>
        </p:spPr>
        <p:txBody>
          <a:bodyPr wrap="square" lIns="0" tIns="0" rIns="0">
            <a:spAutoFit/>
          </a:bodyPr>
          <a:lstStyle/>
          <a:p>
            <a:pPr algn="l">
              <a:defRPr sz="930" b="1">
                <a:solidFill>
                  <a:srgbClr val="201F1E"/>
                </a:solidFill>
                <a:latin typeface="Aptos"/>
              </a:defRPr>
            </a:pPr>
            <a:r>
              <a:rPr dirty="0"/>
              <a:t>Pilot KPI 2</a:t>
            </a:r>
          </a:p>
        </p:txBody>
      </p:sp>
      <p:sp>
        <p:nvSpPr>
          <p:cNvPr id="45" name="TextBox 44"/>
          <p:cNvSpPr txBox="1"/>
          <p:nvPr/>
        </p:nvSpPr>
        <p:spPr>
          <a:xfrm>
            <a:off x="6269735" y="5332112"/>
            <a:ext cx="1298448" cy="415498"/>
          </a:xfrm>
          <a:prstGeom prst="rect">
            <a:avLst/>
          </a:prstGeom>
          <a:noFill/>
        </p:spPr>
        <p:txBody>
          <a:bodyPr wrap="square" lIns="0" tIns="0" rIns="0">
            <a:spAutoFit/>
          </a:bodyPr>
          <a:lstStyle/>
          <a:p>
            <a:pPr algn="l">
              <a:defRPr sz="750" b="0">
                <a:solidFill>
                  <a:srgbClr val="605E5C"/>
                </a:solidFill>
                <a:latin typeface="Aptos"/>
              </a:defRPr>
            </a:pPr>
            <a:r>
              <a:rPr sz="800" dirty="0"/>
              <a:t>Count AI outputs accepted, edited, rejected or regenerated.</a:t>
            </a:r>
          </a:p>
        </p:txBody>
      </p:sp>
      <p:sp>
        <p:nvSpPr>
          <p:cNvPr id="46" name="Rounded Rectangle 45"/>
          <p:cNvSpPr/>
          <p:nvPr/>
        </p:nvSpPr>
        <p:spPr>
          <a:xfrm>
            <a:off x="7869935" y="5048647"/>
            <a:ext cx="1737360" cy="732949"/>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7979663" y="5164773"/>
            <a:ext cx="137160" cy="137160"/>
          </a:xfrm>
          <a:prstGeom prst="ellipse">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189975" y="5149232"/>
            <a:ext cx="1298448" cy="201168"/>
          </a:xfrm>
          <a:prstGeom prst="rect">
            <a:avLst/>
          </a:prstGeom>
          <a:noFill/>
        </p:spPr>
        <p:txBody>
          <a:bodyPr wrap="square" lIns="0" tIns="0" rIns="0">
            <a:spAutoFit/>
          </a:bodyPr>
          <a:lstStyle/>
          <a:p>
            <a:pPr algn="l">
              <a:defRPr sz="930" b="1">
                <a:solidFill>
                  <a:srgbClr val="201F1E"/>
                </a:solidFill>
                <a:latin typeface="Aptos"/>
              </a:defRPr>
            </a:pPr>
            <a:r>
              <a:rPr dirty="0"/>
              <a:t>Pilot KPI 3</a:t>
            </a:r>
          </a:p>
        </p:txBody>
      </p:sp>
      <p:sp>
        <p:nvSpPr>
          <p:cNvPr id="49" name="TextBox 48"/>
          <p:cNvSpPr txBox="1"/>
          <p:nvPr/>
        </p:nvSpPr>
        <p:spPr>
          <a:xfrm>
            <a:off x="8189975" y="5327540"/>
            <a:ext cx="1298448" cy="415498"/>
          </a:xfrm>
          <a:prstGeom prst="rect">
            <a:avLst/>
          </a:prstGeom>
          <a:noFill/>
        </p:spPr>
        <p:txBody>
          <a:bodyPr wrap="square" lIns="0" tIns="0" rIns="0">
            <a:spAutoFit/>
          </a:bodyPr>
          <a:lstStyle/>
          <a:p>
            <a:pPr algn="l">
              <a:defRPr sz="750" b="0">
                <a:solidFill>
                  <a:srgbClr val="605E5C"/>
                </a:solidFill>
                <a:latin typeface="Aptos"/>
              </a:defRPr>
            </a:pPr>
            <a:r>
              <a:rPr sz="800" dirty="0"/>
              <a:t>Measure coverage of requirements mapped to stories and tests.</a:t>
            </a:r>
          </a:p>
        </p:txBody>
      </p:sp>
      <p:sp>
        <p:nvSpPr>
          <p:cNvPr id="50" name="Rounded Rectangle 49"/>
          <p:cNvSpPr/>
          <p:nvPr/>
        </p:nvSpPr>
        <p:spPr>
          <a:xfrm>
            <a:off x="9790176" y="5048648"/>
            <a:ext cx="1691640" cy="698962"/>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9899904" y="5151263"/>
            <a:ext cx="137160" cy="137160"/>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110216" y="5137947"/>
            <a:ext cx="1252728" cy="201168"/>
          </a:xfrm>
          <a:prstGeom prst="rect">
            <a:avLst/>
          </a:prstGeom>
          <a:noFill/>
        </p:spPr>
        <p:txBody>
          <a:bodyPr wrap="square" lIns="0" tIns="0" rIns="0">
            <a:spAutoFit/>
          </a:bodyPr>
          <a:lstStyle/>
          <a:p>
            <a:pPr algn="l">
              <a:defRPr sz="930" b="1">
                <a:solidFill>
                  <a:srgbClr val="201F1E"/>
                </a:solidFill>
                <a:latin typeface="Aptos"/>
              </a:defRPr>
            </a:pPr>
            <a:r>
              <a:rPr dirty="0"/>
              <a:t>Pilot KPI 4</a:t>
            </a:r>
          </a:p>
        </p:txBody>
      </p:sp>
      <p:sp>
        <p:nvSpPr>
          <p:cNvPr id="53" name="TextBox 52"/>
          <p:cNvSpPr txBox="1"/>
          <p:nvPr/>
        </p:nvSpPr>
        <p:spPr>
          <a:xfrm>
            <a:off x="10110216" y="5327540"/>
            <a:ext cx="1252728" cy="415498"/>
          </a:xfrm>
          <a:prstGeom prst="rect">
            <a:avLst/>
          </a:prstGeom>
          <a:noFill/>
        </p:spPr>
        <p:txBody>
          <a:bodyPr wrap="square" lIns="0" tIns="0" rIns="0">
            <a:spAutoFit/>
          </a:bodyPr>
          <a:lstStyle/>
          <a:p>
            <a:pPr algn="l">
              <a:defRPr sz="750" b="0">
                <a:solidFill>
                  <a:srgbClr val="605E5C"/>
                </a:solidFill>
                <a:latin typeface="Aptos"/>
              </a:defRPr>
            </a:pPr>
            <a:r>
              <a:rPr sz="800" dirty="0"/>
              <a:t>Track active users, approvals and exports from Power Platform.</a:t>
            </a:r>
          </a:p>
        </p:txBody>
      </p:sp>
      <p:sp>
        <p:nvSpPr>
          <p:cNvPr id="54" name="Rounded Rectangle 53"/>
          <p:cNvSpPr/>
          <p:nvPr/>
        </p:nvSpPr>
        <p:spPr>
          <a:xfrm>
            <a:off x="4349495" y="5937140"/>
            <a:ext cx="1143000" cy="256032"/>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80" b="1">
                <a:solidFill>
                  <a:srgbClr val="FFFFFF"/>
                </a:solidFill>
                <a:latin typeface="Aptos"/>
              </a:defRPr>
            </a:pPr>
            <a:r>
              <a:t>POC</a:t>
            </a:r>
          </a:p>
        </p:txBody>
      </p:sp>
      <p:cxnSp>
        <p:nvCxnSpPr>
          <p:cNvPr id="55" name="Connector 54"/>
          <p:cNvCxnSpPr>
            <a:cxnSpLocks/>
          </p:cNvCxnSpPr>
          <p:nvPr/>
        </p:nvCxnSpPr>
        <p:spPr>
          <a:xfrm>
            <a:off x="5561076" y="6065156"/>
            <a:ext cx="562203" cy="0"/>
          </a:xfrm>
          <a:prstGeom prst="line">
            <a:avLst/>
          </a:prstGeom>
          <a:ln w="20320">
            <a:solidFill>
              <a:srgbClr val="0078D4"/>
            </a:solidFill>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6191859" y="5937140"/>
            <a:ext cx="1298448" cy="256032"/>
          </a:xfrm>
          <a:prstGeom prst="round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80" b="1">
                <a:solidFill>
                  <a:srgbClr val="FFFFFF"/>
                </a:solidFill>
                <a:latin typeface="Aptos"/>
              </a:defRPr>
            </a:pPr>
            <a:r>
              <a:t>Team Pilot</a:t>
            </a:r>
          </a:p>
        </p:txBody>
      </p:sp>
      <p:cxnSp>
        <p:nvCxnSpPr>
          <p:cNvPr id="57" name="Connector 56"/>
          <p:cNvCxnSpPr>
            <a:cxnSpLocks/>
          </p:cNvCxnSpPr>
          <p:nvPr/>
        </p:nvCxnSpPr>
        <p:spPr>
          <a:xfrm>
            <a:off x="7552943" y="6065156"/>
            <a:ext cx="563880" cy="0"/>
          </a:xfrm>
          <a:prstGeom prst="line">
            <a:avLst/>
          </a:prstGeom>
          <a:ln w="20320">
            <a:solidFill>
              <a:srgbClr val="5C2D91"/>
            </a:solidFill>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8162542" y="5922822"/>
            <a:ext cx="1183997" cy="256032"/>
          </a:xfrm>
          <a:prstGeom prst="round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80" b="1">
                <a:solidFill>
                  <a:srgbClr val="FFFFFF"/>
                </a:solidFill>
                <a:latin typeface="Aptos"/>
              </a:defRPr>
            </a:pPr>
            <a:r>
              <a:t>Enterprise Scale</a:t>
            </a:r>
          </a:p>
        </p:txBody>
      </p:sp>
      <p:cxnSp>
        <p:nvCxnSpPr>
          <p:cNvPr id="59" name="Connector 58"/>
          <p:cNvCxnSpPr>
            <a:cxnSpLocks/>
          </p:cNvCxnSpPr>
          <p:nvPr/>
        </p:nvCxnSpPr>
        <p:spPr>
          <a:xfrm>
            <a:off x="9407652" y="6065156"/>
            <a:ext cx="702564" cy="0"/>
          </a:xfrm>
          <a:prstGeom prst="line">
            <a:avLst/>
          </a:prstGeom>
          <a:ln w="20320">
            <a:solidFill>
              <a:srgbClr val="00B7C3"/>
            </a:solidFill>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10160354" y="5916710"/>
            <a:ext cx="941832" cy="256032"/>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80" b="1">
                <a:solidFill>
                  <a:srgbClr val="FFFFFF"/>
                </a:solidFill>
                <a:latin typeface="Aptos"/>
              </a:defRPr>
            </a:pPr>
            <a:r>
              <a:t>ROI</a:t>
            </a:r>
          </a:p>
        </p:txBody>
      </p:sp>
      <p:sp>
        <p:nvSpPr>
          <p:cNvPr id="62" name="TextBox 61"/>
          <p:cNvSpPr txBox="1"/>
          <p:nvPr/>
        </p:nvSpPr>
        <p:spPr>
          <a:xfrm>
            <a:off x="11109960" y="6473952"/>
            <a:ext cx="502920" cy="182880"/>
          </a:xfrm>
          <a:prstGeom prst="rect">
            <a:avLst/>
          </a:prstGeom>
          <a:noFill/>
        </p:spPr>
        <p:txBody>
          <a:bodyPr wrap="square" lIns="0" tIns="0" rIns="0">
            <a:spAutoFit/>
          </a:bodyPr>
          <a:lstStyle/>
          <a:p>
            <a:pPr algn="r">
              <a:defRPr sz="720" b="0">
                <a:solidFill>
                  <a:srgbClr val="605E5C"/>
                </a:solidFill>
                <a:latin typeface="Aptos"/>
              </a:defRPr>
            </a:pPr>
            <a:r>
              <a:t>05</a:t>
            </a:r>
          </a:p>
        </p:txBody>
      </p:sp>
      <p:sp>
        <p:nvSpPr>
          <p:cNvPr id="68" name="Rectangle: Rounded Corners 67">
            <a:extLst>
              <a:ext uri="{FF2B5EF4-FFF2-40B4-BE49-F238E27FC236}">
                <a16:creationId xmlns:a16="http://schemas.microsoft.com/office/drawing/2014/main" id="{6B9455F0-CBD1-3015-5ECF-C51DA5C2B781}"/>
              </a:ext>
            </a:extLst>
          </p:cNvPr>
          <p:cNvSpPr/>
          <p:nvPr/>
        </p:nvSpPr>
        <p:spPr>
          <a:xfrm>
            <a:off x="3892296" y="4717411"/>
            <a:ext cx="1979522" cy="1625088"/>
          </a:xfrm>
          <a:prstGeom prst="roundRect">
            <a:avLst/>
          </a:prstGeom>
          <a:solidFill>
            <a:srgbClr val="DCE6F2">
              <a:alpha val="2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9" name="TextBox 68">
            <a:extLst>
              <a:ext uri="{FF2B5EF4-FFF2-40B4-BE49-F238E27FC236}">
                <a16:creationId xmlns:a16="http://schemas.microsoft.com/office/drawing/2014/main" id="{51E9E98D-EB0F-12A2-7DA6-92E59DE414AF}"/>
              </a:ext>
            </a:extLst>
          </p:cNvPr>
          <p:cNvSpPr txBox="1"/>
          <p:nvPr/>
        </p:nvSpPr>
        <p:spPr>
          <a:xfrm>
            <a:off x="4224528" y="4823169"/>
            <a:ext cx="1298448" cy="189283"/>
          </a:xfrm>
          <a:prstGeom prst="rect">
            <a:avLst/>
          </a:prstGeom>
          <a:noFill/>
        </p:spPr>
        <p:txBody>
          <a:bodyPr wrap="square" lIns="0" tIns="0" rIns="0">
            <a:spAutoFit/>
          </a:bodyPr>
          <a:lstStyle/>
          <a:p>
            <a:pPr algn="ctr">
              <a:defRPr sz="930" b="1">
                <a:solidFill>
                  <a:srgbClr val="201F1E"/>
                </a:solidFill>
                <a:latin typeface="Aptos"/>
              </a:defRPr>
            </a:pPr>
            <a:r>
              <a:rPr lang="en-US" dirty="0">
                <a:solidFill>
                  <a:srgbClr val="002060"/>
                </a:solidFill>
              </a:rPr>
              <a:t>Current Phase</a:t>
            </a:r>
            <a:endParaRPr dirty="0">
              <a:solidFill>
                <a:srgbClr val="002060"/>
              </a:solidFill>
            </a:endParaRPr>
          </a:p>
        </p:txBody>
      </p:sp>
      <p:pic>
        <p:nvPicPr>
          <p:cNvPr id="64" name="Picture 6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302" y="702139"/>
            <a:ext cx="1235515" cy="428351"/>
          </a:xfrm>
          <a:prstGeom prst="rect">
            <a:avLst/>
          </a:prstGeom>
        </p:spPr>
      </p:pic>
      <p:sp>
        <p:nvSpPr>
          <p:cNvPr id="4" name="Footer Placeholder 3">
            <a:extLst>
              <a:ext uri="{FF2B5EF4-FFF2-40B4-BE49-F238E27FC236}">
                <a16:creationId xmlns:a16="http://schemas.microsoft.com/office/drawing/2014/main" id="{5BF6C1E7-6462-6AFE-262C-10D9C0708D08}"/>
              </a:ext>
            </a:extLst>
          </p:cNvPr>
          <p:cNvSpPr>
            <a:spLocks noGrp="1"/>
          </p:cNvSpPr>
          <p:nvPr>
            <p:ph type="ftr" sz="quarter" idx="11"/>
          </p:nvPr>
        </p:nvSpPr>
        <p:spPr>
          <a:xfrm>
            <a:off x="3261359" y="6480462"/>
            <a:ext cx="7599681" cy="365125"/>
          </a:xfrm>
        </p:spPr>
        <p:txBody>
          <a:bodyPr/>
          <a:lstStyle/>
          <a:p>
            <a:r>
              <a:rPr lang="en-US" dirty="0"/>
              <a:t>Nexa.ai | Microsoft Build AI | Theme 01: AI at Work — Productivity &amp; Teamwork Reimagined</a:t>
            </a:r>
          </a:p>
        </p:txBody>
      </p:sp>
    </p:spTree>
    <p:extLst>
      <p:ext uri="{BB962C8B-B14F-4D97-AF65-F5344CB8AC3E}">
        <p14:creationId xmlns:p14="http://schemas.microsoft.com/office/powerpoint/2010/main" val="41602223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46120" cy="6858000"/>
          </a:xfrm>
          <a:prstGeom prst="rect">
            <a:avLst/>
          </a:prstGeom>
          <a:solidFill>
            <a:srgbClr val="EFF6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17039" y="2087185"/>
            <a:ext cx="2240280" cy="692497"/>
          </a:xfrm>
          <a:prstGeom prst="rect">
            <a:avLst/>
          </a:prstGeom>
          <a:noFill/>
        </p:spPr>
        <p:txBody>
          <a:bodyPr wrap="square" lIns="0" tIns="0" rIns="0">
            <a:spAutoFit/>
          </a:bodyPr>
          <a:lstStyle/>
          <a:p>
            <a:pPr algn="l">
              <a:defRPr sz="2100" b="1">
                <a:solidFill>
                  <a:srgbClr val="201F1E"/>
                </a:solidFill>
                <a:latin typeface="Aptos"/>
              </a:defRPr>
            </a:pPr>
            <a:r>
              <a:rPr dirty="0"/>
              <a:t>Nexa.ai </a:t>
            </a:r>
            <a:r>
              <a:rPr lang="en-US" dirty="0"/>
              <a:t>- </a:t>
            </a:r>
            <a:r>
              <a:rPr dirty="0"/>
              <a:t>value to Microsoft</a:t>
            </a:r>
          </a:p>
        </p:txBody>
      </p:sp>
      <p:sp>
        <p:nvSpPr>
          <p:cNvPr id="6" name="TextBox 5"/>
          <p:cNvSpPr txBox="1"/>
          <p:nvPr/>
        </p:nvSpPr>
        <p:spPr>
          <a:xfrm>
            <a:off x="617039" y="3069177"/>
            <a:ext cx="2240280" cy="868680"/>
          </a:xfrm>
          <a:prstGeom prst="rect">
            <a:avLst/>
          </a:prstGeom>
          <a:noFill/>
        </p:spPr>
        <p:txBody>
          <a:bodyPr wrap="square" lIns="0" tIns="0" rIns="0">
            <a:spAutoFit/>
          </a:bodyPr>
          <a:lstStyle/>
          <a:p>
            <a:pPr algn="l">
              <a:defRPr sz="1050" b="0">
                <a:solidFill>
                  <a:srgbClr val="605E5C"/>
                </a:solidFill>
                <a:latin typeface="Aptos"/>
              </a:defRPr>
            </a:pPr>
            <a:r>
              <a:rPr dirty="0"/>
              <a:t>A focused AI-at-work solution that turns Microsoft 365 conversations into governed Power Platform workflows.</a:t>
            </a:r>
          </a:p>
        </p:txBody>
      </p:sp>
      <p:sp>
        <p:nvSpPr>
          <p:cNvPr id="7" name="Rounded Rectangle 6"/>
          <p:cNvSpPr/>
          <p:nvPr/>
        </p:nvSpPr>
        <p:spPr>
          <a:xfrm>
            <a:off x="589788" y="4078224"/>
            <a:ext cx="2057400" cy="310896"/>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sz="1200"/>
              <a:t>Extends Microsoft 365</a:t>
            </a:r>
          </a:p>
        </p:txBody>
      </p:sp>
      <p:sp>
        <p:nvSpPr>
          <p:cNvPr id="8" name="Rounded Rectangle 7"/>
          <p:cNvSpPr/>
          <p:nvPr/>
        </p:nvSpPr>
        <p:spPr>
          <a:xfrm>
            <a:off x="589788" y="4498848"/>
            <a:ext cx="2057400" cy="310896"/>
          </a:xfrm>
          <a:prstGeom prst="round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sz="1200"/>
              <a:t>Drives Power Platform</a:t>
            </a:r>
          </a:p>
        </p:txBody>
      </p:sp>
      <p:sp>
        <p:nvSpPr>
          <p:cNvPr id="9" name="Rounded Rectangle 8"/>
          <p:cNvSpPr/>
          <p:nvPr/>
        </p:nvSpPr>
        <p:spPr>
          <a:xfrm>
            <a:off x="589788" y="4919472"/>
            <a:ext cx="2057400" cy="310896"/>
          </a:xfrm>
          <a:prstGeom prst="round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sz="1200"/>
              <a:t>Builds Trustworthy AI</a:t>
            </a:r>
          </a:p>
        </p:txBody>
      </p:sp>
      <p:sp>
        <p:nvSpPr>
          <p:cNvPr id="10" name="Rounded Rectangle 9"/>
          <p:cNvSpPr/>
          <p:nvPr/>
        </p:nvSpPr>
        <p:spPr>
          <a:xfrm>
            <a:off x="589788" y="5340096"/>
            <a:ext cx="2057400" cy="310896"/>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sz="1200"/>
              <a:t>Creates Enterprise Pull</a:t>
            </a:r>
          </a:p>
        </p:txBody>
      </p:sp>
      <p:sp>
        <p:nvSpPr>
          <p:cNvPr id="11" name="Rounded Rectangle 10"/>
          <p:cNvSpPr/>
          <p:nvPr/>
        </p:nvSpPr>
        <p:spPr>
          <a:xfrm>
            <a:off x="639500" y="1321308"/>
            <a:ext cx="2057400" cy="347472"/>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sz="1400"/>
              <a:t>Microsoft Value</a:t>
            </a:r>
          </a:p>
        </p:txBody>
      </p:sp>
      <p:sp>
        <p:nvSpPr>
          <p:cNvPr id="12" name="TextBox 11"/>
          <p:cNvSpPr txBox="1"/>
          <p:nvPr/>
        </p:nvSpPr>
        <p:spPr>
          <a:xfrm>
            <a:off x="3703320" y="640080"/>
            <a:ext cx="7772400" cy="507831"/>
          </a:xfrm>
          <a:prstGeom prst="rect">
            <a:avLst/>
          </a:prstGeom>
          <a:noFill/>
        </p:spPr>
        <p:txBody>
          <a:bodyPr wrap="square" lIns="0" tIns="0" rIns="0">
            <a:spAutoFit/>
          </a:bodyPr>
          <a:lstStyle/>
          <a:p>
            <a:pPr algn="l">
              <a:defRPr sz="3000" b="1">
                <a:solidFill>
                  <a:srgbClr val="201F1E"/>
                </a:solidFill>
                <a:latin typeface="Aptos"/>
              </a:defRPr>
            </a:pPr>
            <a:r>
              <a:rPr dirty="0"/>
              <a:t>Why </a:t>
            </a:r>
            <a:r>
              <a:rPr dirty="0">
                <a:solidFill>
                  <a:srgbClr val="002060"/>
                </a:solidFill>
              </a:rPr>
              <a:t>Nexa.ai </a:t>
            </a:r>
            <a:r>
              <a:rPr dirty="0"/>
              <a:t>Adds Value to Microsoft</a:t>
            </a:r>
          </a:p>
        </p:txBody>
      </p:sp>
      <p:sp>
        <p:nvSpPr>
          <p:cNvPr id="13" name="TextBox 12"/>
          <p:cNvSpPr txBox="1"/>
          <p:nvPr/>
        </p:nvSpPr>
        <p:spPr>
          <a:xfrm>
            <a:off x="3730752" y="1234440"/>
            <a:ext cx="7882128" cy="538609"/>
          </a:xfrm>
          <a:prstGeom prst="rect">
            <a:avLst/>
          </a:prstGeom>
          <a:noFill/>
        </p:spPr>
        <p:txBody>
          <a:bodyPr wrap="square" lIns="0" tIns="0" rIns="0">
            <a:spAutoFit/>
          </a:bodyPr>
          <a:lstStyle/>
          <a:p>
            <a:pPr algn="l">
              <a:defRPr sz="1220" b="0">
                <a:solidFill>
                  <a:srgbClr val="605E5C"/>
                </a:solidFill>
                <a:latin typeface="Aptos"/>
              </a:defRPr>
            </a:pPr>
            <a:r>
              <a:rPr sz="1600" b="1" i="1" dirty="0"/>
              <a:t>Nexa.ai</a:t>
            </a:r>
            <a:r>
              <a:rPr sz="1600" i="1" dirty="0"/>
              <a:t> is not just an app </a:t>
            </a:r>
            <a:r>
              <a:rPr lang="en-US" sz="1600" i="1" dirty="0"/>
              <a:t>-</a:t>
            </a:r>
            <a:r>
              <a:rPr sz="1600" i="1" dirty="0"/>
              <a:t> it is a repeatable enterprise pattern for converting collaboration data into accountable business execution</a:t>
            </a:r>
            <a:r>
              <a:rPr lang="en-US" sz="1600" i="1" dirty="0"/>
              <a:t>.</a:t>
            </a:r>
            <a:endParaRPr sz="1600" i="1" dirty="0"/>
          </a:p>
        </p:txBody>
      </p:sp>
      <p:sp>
        <p:nvSpPr>
          <p:cNvPr id="14" name="Rounded Rectangle 13"/>
          <p:cNvSpPr/>
          <p:nvPr/>
        </p:nvSpPr>
        <p:spPr>
          <a:xfrm>
            <a:off x="3944112" y="1894839"/>
            <a:ext cx="1737360" cy="1234440"/>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944112" y="1894839"/>
            <a:ext cx="1737360" cy="5943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99560" y="2059432"/>
            <a:ext cx="1426463" cy="246888"/>
          </a:xfrm>
          <a:prstGeom prst="rect">
            <a:avLst/>
          </a:prstGeom>
          <a:noFill/>
        </p:spPr>
        <p:txBody>
          <a:bodyPr wrap="square" lIns="0" tIns="0" rIns="0">
            <a:spAutoFit/>
          </a:bodyPr>
          <a:lstStyle/>
          <a:p>
            <a:pPr algn="l">
              <a:defRPr sz="1140" b="1">
                <a:solidFill>
                  <a:srgbClr val="201F1E"/>
                </a:solidFill>
                <a:latin typeface="Aptos"/>
              </a:defRPr>
            </a:pPr>
            <a:r>
              <a:rPr dirty="0"/>
              <a:t>1. Makes M365 work actionable</a:t>
            </a:r>
          </a:p>
        </p:txBody>
      </p:sp>
      <p:sp>
        <p:nvSpPr>
          <p:cNvPr id="17" name="TextBox 16"/>
          <p:cNvSpPr txBox="1"/>
          <p:nvPr/>
        </p:nvSpPr>
        <p:spPr>
          <a:xfrm>
            <a:off x="4088892" y="2470889"/>
            <a:ext cx="1426463" cy="667512"/>
          </a:xfrm>
          <a:prstGeom prst="rect">
            <a:avLst/>
          </a:prstGeom>
          <a:noFill/>
        </p:spPr>
        <p:txBody>
          <a:bodyPr wrap="square" lIns="0" tIns="0" rIns="0">
            <a:spAutoFit/>
          </a:bodyPr>
          <a:lstStyle/>
          <a:p>
            <a:pPr algn="l">
              <a:defRPr sz="800" b="0">
                <a:solidFill>
                  <a:srgbClr val="605E5C"/>
                </a:solidFill>
                <a:latin typeface="Aptos"/>
              </a:defRPr>
            </a:pPr>
            <a:r>
              <a:rPr dirty="0"/>
              <a:t>Turns Teams/meeting transcripts into approved requirements, stories, technical design and QA coverage.</a:t>
            </a:r>
          </a:p>
        </p:txBody>
      </p:sp>
      <p:sp>
        <p:nvSpPr>
          <p:cNvPr id="18" name="Rounded Rectangle 17"/>
          <p:cNvSpPr/>
          <p:nvPr/>
        </p:nvSpPr>
        <p:spPr>
          <a:xfrm>
            <a:off x="5864352" y="1894839"/>
            <a:ext cx="1737360" cy="1234440"/>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864352" y="1894839"/>
            <a:ext cx="1737360" cy="59436"/>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019800" y="2059432"/>
            <a:ext cx="1426463" cy="246888"/>
          </a:xfrm>
          <a:prstGeom prst="rect">
            <a:avLst/>
          </a:prstGeom>
          <a:noFill/>
        </p:spPr>
        <p:txBody>
          <a:bodyPr wrap="square" lIns="0" tIns="0" rIns="0">
            <a:spAutoFit/>
          </a:bodyPr>
          <a:lstStyle/>
          <a:p>
            <a:pPr algn="l">
              <a:defRPr sz="1140" b="1">
                <a:solidFill>
                  <a:srgbClr val="201F1E"/>
                </a:solidFill>
                <a:latin typeface="Aptos"/>
              </a:defRPr>
            </a:pPr>
            <a:r>
              <a:t>2. Showcases Power Platform AI</a:t>
            </a:r>
          </a:p>
        </p:txBody>
      </p:sp>
      <p:sp>
        <p:nvSpPr>
          <p:cNvPr id="21" name="TextBox 20"/>
          <p:cNvSpPr txBox="1"/>
          <p:nvPr/>
        </p:nvSpPr>
        <p:spPr>
          <a:xfrm>
            <a:off x="6019800" y="2489925"/>
            <a:ext cx="1426463" cy="538609"/>
          </a:xfrm>
          <a:prstGeom prst="rect">
            <a:avLst/>
          </a:prstGeom>
          <a:noFill/>
        </p:spPr>
        <p:txBody>
          <a:bodyPr wrap="square" lIns="0" tIns="0" rIns="0">
            <a:spAutoFit/>
          </a:bodyPr>
          <a:lstStyle/>
          <a:p>
            <a:pPr algn="l">
              <a:defRPr sz="800" b="0">
                <a:solidFill>
                  <a:srgbClr val="605E5C"/>
                </a:solidFill>
                <a:latin typeface="Aptos"/>
              </a:defRPr>
            </a:pPr>
            <a:r>
              <a:rPr dirty="0"/>
              <a:t>Uses Power Pages, Power Automate, Copilot Studio, AI prompts and </a:t>
            </a:r>
            <a:r>
              <a:rPr dirty="0" err="1"/>
              <a:t>Dataverse</a:t>
            </a:r>
            <a:r>
              <a:rPr dirty="0"/>
              <a:t> as the core solution stack.</a:t>
            </a:r>
          </a:p>
        </p:txBody>
      </p:sp>
      <p:sp>
        <p:nvSpPr>
          <p:cNvPr id="22" name="Rounded Rectangle 21"/>
          <p:cNvSpPr/>
          <p:nvPr/>
        </p:nvSpPr>
        <p:spPr>
          <a:xfrm>
            <a:off x="7784591" y="1894839"/>
            <a:ext cx="1737360" cy="1234440"/>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784591" y="1894839"/>
            <a:ext cx="1737360" cy="59436"/>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940039" y="2059432"/>
            <a:ext cx="1426463" cy="246888"/>
          </a:xfrm>
          <a:prstGeom prst="rect">
            <a:avLst/>
          </a:prstGeom>
          <a:noFill/>
        </p:spPr>
        <p:txBody>
          <a:bodyPr wrap="square" lIns="0" tIns="0" rIns="0">
            <a:spAutoFit/>
          </a:bodyPr>
          <a:lstStyle/>
          <a:p>
            <a:pPr algn="l">
              <a:defRPr sz="1140" b="1">
                <a:solidFill>
                  <a:srgbClr val="201F1E"/>
                </a:solidFill>
                <a:latin typeface="Aptos"/>
              </a:defRPr>
            </a:pPr>
            <a:r>
              <a:t>3. Increases trusted AI adoption</a:t>
            </a:r>
          </a:p>
        </p:txBody>
      </p:sp>
      <p:sp>
        <p:nvSpPr>
          <p:cNvPr id="25" name="TextBox 24"/>
          <p:cNvSpPr txBox="1"/>
          <p:nvPr/>
        </p:nvSpPr>
        <p:spPr>
          <a:xfrm>
            <a:off x="7940039" y="2480055"/>
            <a:ext cx="1426463" cy="667512"/>
          </a:xfrm>
          <a:prstGeom prst="rect">
            <a:avLst/>
          </a:prstGeom>
          <a:noFill/>
        </p:spPr>
        <p:txBody>
          <a:bodyPr wrap="square" lIns="0" tIns="0" rIns="0">
            <a:spAutoFit/>
          </a:bodyPr>
          <a:lstStyle/>
          <a:p>
            <a:pPr algn="l">
              <a:defRPr sz="800" b="0">
                <a:solidFill>
                  <a:srgbClr val="605E5C"/>
                </a:solidFill>
                <a:latin typeface="Aptos"/>
              </a:defRPr>
            </a:pPr>
            <a:r>
              <a:rPr dirty="0"/>
              <a:t>Adds human approval, source grounding, versioning and role-based access before outputs become official.</a:t>
            </a:r>
          </a:p>
        </p:txBody>
      </p:sp>
      <p:sp>
        <p:nvSpPr>
          <p:cNvPr id="26" name="Rounded Rectangle 25"/>
          <p:cNvSpPr/>
          <p:nvPr/>
        </p:nvSpPr>
        <p:spPr>
          <a:xfrm>
            <a:off x="9704832" y="1894839"/>
            <a:ext cx="1737360" cy="1234440"/>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704832" y="1894839"/>
            <a:ext cx="1737360" cy="59436"/>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860280" y="2059432"/>
            <a:ext cx="1426463" cy="246888"/>
          </a:xfrm>
          <a:prstGeom prst="rect">
            <a:avLst/>
          </a:prstGeom>
          <a:noFill/>
        </p:spPr>
        <p:txBody>
          <a:bodyPr wrap="square" lIns="0" tIns="0" rIns="0">
            <a:spAutoFit/>
          </a:bodyPr>
          <a:lstStyle/>
          <a:p>
            <a:pPr algn="l">
              <a:defRPr sz="1140" b="1">
                <a:solidFill>
                  <a:srgbClr val="201F1E"/>
                </a:solidFill>
                <a:latin typeface="Aptos"/>
              </a:defRPr>
            </a:pPr>
            <a:r>
              <a:t>4. Creates enterprise demand</a:t>
            </a:r>
          </a:p>
        </p:txBody>
      </p:sp>
      <p:sp>
        <p:nvSpPr>
          <p:cNvPr id="29" name="TextBox 28"/>
          <p:cNvSpPr txBox="1"/>
          <p:nvPr/>
        </p:nvSpPr>
        <p:spPr>
          <a:xfrm>
            <a:off x="9860280" y="2486857"/>
            <a:ext cx="1426463" cy="667512"/>
          </a:xfrm>
          <a:prstGeom prst="rect">
            <a:avLst/>
          </a:prstGeom>
          <a:noFill/>
        </p:spPr>
        <p:txBody>
          <a:bodyPr wrap="square" lIns="0" tIns="0" rIns="0">
            <a:spAutoFit/>
          </a:bodyPr>
          <a:lstStyle/>
          <a:p>
            <a:pPr algn="l">
              <a:defRPr sz="800" b="0">
                <a:solidFill>
                  <a:srgbClr val="605E5C"/>
                </a:solidFill>
                <a:latin typeface="Aptos"/>
              </a:defRPr>
            </a:pPr>
            <a:r>
              <a:rPr dirty="0"/>
              <a:t>Solves a universal delivery problem across consulting, IT, product, operations and software teams.</a:t>
            </a:r>
          </a:p>
        </p:txBody>
      </p:sp>
      <p:sp>
        <p:nvSpPr>
          <p:cNvPr id="30" name="Rounded Rectangle 29"/>
          <p:cNvSpPr/>
          <p:nvPr/>
        </p:nvSpPr>
        <p:spPr>
          <a:xfrm>
            <a:off x="3730752" y="3474720"/>
            <a:ext cx="7882128" cy="960120"/>
          </a:xfrm>
          <a:prstGeom prst="roundRect">
            <a:avLst/>
          </a:prstGeom>
          <a:solidFill>
            <a:srgbClr val="FAF9F8"/>
          </a:solidFill>
          <a:ln>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3977639" y="3703320"/>
            <a:ext cx="1143000" cy="27432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ptos"/>
              </a:defRPr>
            </a:pPr>
            <a:r>
              <a:rPr sz="1200" dirty="0"/>
              <a:t>Core value</a:t>
            </a:r>
          </a:p>
        </p:txBody>
      </p:sp>
      <p:sp>
        <p:nvSpPr>
          <p:cNvPr id="32" name="TextBox 31"/>
          <p:cNvSpPr txBox="1"/>
          <p:nvPr/>
        </p:nvSpPr>
        <p:spPr>
          <a:xfrm>
            <a:off x="5321808" y="3730752"/>
            <a:ext cx="6039612" cy="276999"/>
          </a:xfrm>
          <a:prstGeom prst="rect">
            <a:avLst/>
          </a:prstGeom>
          <a:noFill/>
        </p:spPr>
        <p:txBody>
          <a:bodyPr wrap="square" lIns="0" tIns="0" rIns="0">
            <a:spAutoFit/>
          </a:bodyPr>
          <a:lstStyle/>
          <a:p>
            <a:pPr algn="l">
              <a:defRPr sz="1500" b="1">
                <a:solidFill>
                  <a:srgbClr val="201F1E"/>
                </a:solidFill>
                <a:latin typeface="Aptos"/>
              </a:defRPr>
            </a:pPr>
            <a:r>
              <a:rPr dirty="0"/>
              <a:t>From Copilot assistance to business process transformation</a:t>
            </a:r>
          </a:p>
        </p:txBody>
      </p:sp>
      <p:sp>
        <p:nvSpPr>
          <p:cNvPr id="33" name="TextBox 32"/>
          <p:cNvSpPr txBox="1"/>
          <p:nvPr/>
        </p:nvSpPr>
        <p:spPr>
          <a:xfrm>
            <a:off x="3977639" y="4069080"/>
            <a:ext cx="6903720" cy="207749"/>
          </a:xfrm>
          <a:prstGeom prst="rect">
            <a:avLst/>
          </a:prstGeom>
          <a:noFill/>
        </p:spPr>
        <p:txBody>
          <a:bodyPr wrap="square" lIns="0" tIns="0" rIns="0">
            <a:spAutoFit/>
          </a:bodyPr>
          <a:lstStyle/>
          <a:p>
            <a:pPr algn="ctr">
              <a:defRPr sz="930" b="0">
                <a:solidFill>
                  <a:srgbClr val="605E5C"/>
                </a:solidFill>
                <a:latin typeface="Aptos"/>
              </a:defRPr>
            </a:pPr>
            <a:r>
              <a:rPr sz="1050" dirty="0"/>
              <a:t>Nexa.ai demonstrates how Microsoft AI can move beyond summarization into governed, measurable delivery workflows.</a:t>
            </a:r>
          </a:p>
        </p:txBody>
      </p:sp>
      <p:sp>
        <p:nvSpPr>
          <p:cNvPr id="34" name="Rounded Rectangle 33"/>
          <p:cNvSpPr/>
          <p:nvPr/>
        </p:nvSpPr>
        <p:spPr>
          <a:xfrm>
            <a:off x="3730752" y="4846319"/>
            <a:ext cx="1417320" cy="1129286"/>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22191" y="4956048"/>
            <a:ext cx="1234440" cy="415498"/>
          </a:xfrm>
          <a:prstGeom prst="rect">
            <a:avLst/>
          </a:prstGeom>
          <a:noFill/>
        </p:spPr>
        <p:txBody>
          <a:bodyPr wrap="square" lIns="0" tIns="0" rIns="0">
            <a:spAutoFit/>
          </a:bodyPr>
          <a:lstStyle/>
          <a:p>
            <a:pPr algn="ctr">
              <a:defRPr sz="2400" b="1">
                <a:solidFill>
                  <a:srgbClr val="0078D4"/>
                </a:solidFill>
                <a:latin typeface="Aptos"/>
              </a:defRPr>
            </a:pPr>
            <a:r>
              <a:rPr lang="en-US" dirty="0"/>
              <a:t>5</a:t>
            </a:r>
            <a:endParaRPr dirty="0"/>
          </a:p>
        </p:txBody>
      </p:sp>
      <p:sp>
        <p:nvSpPr>
          <p:cNvPr id="36" name="TextBox 35"/>
          <p:cNvSpPr txBox="1"/>
          <p:nvPr/>
        </p:nvSpPr>
        <p:spPr>
          <a:xfrm>
            <a:off x="3840480" y="5376672"/>
            <a:ext cx="1197864" cy="530915"/>
          </a:xfrm>
          <a:prstGeom prst="rect">
            <a:avLst/>
          </a:prstGeom>
          <a:noFill/>
        </p:spPr>
        <p:txBody>
          <a:bodyPr wrap="square" lIns="0" tIns="0" rIns="0">
            <a:spAutoFit/>
          </a:bodyPr>
          <a:lstStyle/>
          <a:p>
            <a:pPr algn="ctr">
              <a:defRPr sz="819" b="0">
                <a:solidFill>
                  <a:srgbClr val="201F1E"/>
                </a:solidFill>
                <a:latin typeface="Aptos"/>
              </a:defRPr>
            </a:pPr>
            <a:r>
              <a:rPr sz="1050" dirty="0"/>
              <a:t>Role-based agents mapped to real delivery personas</a:t>
            </a:r>
          </a:p>
        </p:txBody>
      </p:sp>
      <p:sp>
        <p:nvSpPr>
          <p:cNvPr id="37" name="Rounded Rectangle 36"/>
          <p:cNvSpPr/>
          <p:nvPr/>
        </p:nvSpPr>
        <p:spPr>
          <a:xfrm>
            <a:off x="5376672" y="4846319"/>
            <a:ext cx="1417320" cy="1129285"/>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68112" y="4956048"/>
            <a:ext cx="1234440" cy="384048"/>
          </a:xfrm>
          <a:prstGeom prst="rect">
            <a:avLst/>
          </a:prstGeom>
          <a:noFill/>
        </p:spPr>
        <p:txBody>
          <a:bodyPr wrap="square" lIns="0" tIns="0" rIns="0">
            <a:spAutoFit/>
          </a:bodyPr>
          <a:lstStyle/>
          <a:p>
            <a:pPr algn="ctr">
              <a:defRPr sz="2400" b="1">
                <a:solidFill>
                  <a:srgbClr val="5C2D91"/>
                </a:solidFill>
                <a:latin typeface="Aptos"/>
              </a:defRPr>
            </a:pPr>
            <a:r>
              <a:rPr dirty="0"/>
              <a:t>1</a:t>
            </a:r>
          </a:p>
        </p:txBody>
      </p:sp>
      <p:sp>
        <p:nvSpPr>
          <p:cNvPr id="39" name="TextBox 38"/>
          <p:cNvSpPr txBox="1"/>
          <p:nvPr/>
        </p:nvSpPr>
        <p:spPr>
          <a:xfrm>
            <a:off x="5486400" y="5376672"/>
            <a:ext cx="1197864" cy="530915"/>
          </a:xfrm>
          <a:prstGeom prst="rect">
            <a:avLst/>
          </a:prstGeom>
          <a:noFill/>
        </p:spPr>
        <p:txBody>
          <a:bodyPr wrap="square" lIns="0" tIns="0" rIns="0">
            <a:spAutoFit/>
          </a:bodyPr>
          <a:lstStyle/>
          <a:p>
            <a:pPr algn="ctr">
              <a:defRPr sz="819" b="0">
                <a:solidFill>
                  <a:srgbClr val="201F1E"/>
                </a:solidFill>
                <a:latin typeface="Aptos"/>
              </a:defRPr>
            </a:pPr>
            <a:r>
              <a:rPr sz="1050" dirty="0"/>
              <a:t>Power Platform backbone </a:t>
            </a:r>
            <a:r>
              <a:rPr lang="en-US" sz="1050" dirty="0"/>
              <a:t>for </a:t>
            </a:r>
            <a:r>
              <a:rPr sz="1050" dirty="0"/>
              <a:t>scal</a:t>
            </a:r>
            <a:r>
              <a:rPr lang="en-US" sz="1050" dirty="0"/>
              <a:t>able solution</a:t>
            </a:r>
            <a:endParaRPr sz="1050" dirty="0"/>
          </a:p>
        </p:txBody>
      </p:sp>
      <p:sp>
        <p:nvSpPr>
          <p:cNvPr id="40" name="Rounded Rectangle 39"/>
          <p:cNvSpPr/>
          <p:nvPr/>
        </p:nvSpPr>
        <p:spPr>
          <a:xfrm>
            <a:off x="7022592" y="4846320"/>
            <a:ext cx="1417320" cy="1129284"/>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114031" y="4956048"/>
            <a:ext cx="1234440" cy="384048"/>
          </a:xfrm>
          <a:prstGeom prst="rect">
            <a:avLst/>
          </a:prstGeom>
          <a:noFill/>
        </p:spPr>
        <p:txBody>
          <a:bodyPr wrap="square" lIns="0" tIns="0" rIns="0">
            <a:spAutoFit/>
          </a:bodyPr>
          <a:lstStyle/>
          <a:p>
            <a:pPr algn="ctr">
              <a:defRPr sz="2400" b="1">
                <a:solidFill>
                  <a:srgbClr val="00B7C3"/>
                </a:solidFill>
                <a:latin typeface="Aptos"/>
              </a:defRPr>
            </a:pPr>
            <a:r>
              <a:rPr dirty="0"/>
              <a:t>100%</a:t>
            </a:r>
          </a:p>
        </p:txBody>
      </p:sp>
      <p:sp>
        <p:nvSpPr>
          <p:cNvPr id="42" name="TextBox 41"/>
          <p:cNvSpPr txBox="1"/>
          <p:nvPr/>
        </p:nvSpPr>
        <p:spPr>
          <a:xfrm>
            <a:off x="7132320" y="5376672"/>
            <a:ext cx="1197864" cy="530915"/>
          </a:xfrm>
          <a:prstGeom prst="rect">
            <a:avLst/>
          </a:prstGeom>
          <a:noFill/>
        </p:spPr>
        <p:txBody>
          <a:bodyPr wrap="square" lIns="0" tIns="0" rIns="0">
            <a:spAutoFit/>
          </a:bodyPr>
          <a:lstStyle/>
          <a:p>
            <a:pPr algn="ctr">
              <a:defRPr sz="819" b="0">
                <a:solidFill>
                  <a:srgbClr val="201F1E"/>
                </a:solidFill>
                <a:latin typeface="Aptos"/>
              </a:defRPr>
            </a:pPr>
            <a:r>
              <a:rPr sz="1050"/>
              <a:t>Human approval before official handoff</a:t>
            </a:r>
          </a:p>
        </p:txBody>
      </p:sp>
      <p:sp>
        <p:nvSpPr>
          <p:cNvPr id="43" name="Rounded Rectangle 42"/>
          <p:cNvSpPr/>
          <p:nvPr/>
        </p:nvSpPr>
        <p:spPr>
          <a:xfrm>
            <a:off x="8668512" y="4846319"/>
            <a:ext cx="1417320" cy="1129285"/>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778240" y="5376672"/>
            <a:ext cx="1197864" cy="369332"/>
          </a:xfrm>
          <a:prstGeom prst="rect">
            <a:avLst/>
          </a:prstGeom>
          <a:noFill/>
        </p:spPr>
        <p:txBody>
          <a:bodyPr wrap="square" lIns="0" tIns="0" rIns="0">
            <a:spAutoFit/>
          </a:bodyPr>
          <a:lstStyle/>
          <a:p>
            <a:pPr algn="ctr">
              <a:defRPr sz="819" b="0">
                <a:solidFill>
                  <a:srgbClr val="201F1E"/>
                </a:solidFill>
                <a:latin typeface="Aptos"/>
              </a:defRPr>
            </a:pPr>
            <a:r>
              <a:rPr sz="1050" dirty="0"/>
              <a:t>Transcript → artifacts → approval → export</a:t>
            </a:r>
          </a:p>
        </p:txBody>
      </p:sp>
      <p:sp>
        <p:nvSpPr>
          <p:cNvPr id="46" name="Rounded Rectangle 45"/>
          <p:cNvSpPr/>
          <p:nvPr/>
        </p:nvSpPr>
        <p:spPr>
          <a:xfrm>
            <a:off x="10314432" y="4846319"/>
            <a:ext cx="1287780" cy="1129285"/>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675620" y="4977985"/>
            <a:ext cx="685800" cy="353943"/>
          </a:xfrm>
          <a:prstGeom prst="rect">
            <a:avLst/>
          </a:prstGeom>
          <a:noFill/>
        </p:spPr>
        <p:txBody>
          <a:bodyPr wrap="square" lIns="0" tIns="0" rIns="0">
            <a:spAutoFit/>
          </a:bodyPr>
          <a:lstStyle/>
          <a:p>
            <a:pPr algn="ctr">
              <a:defRPr sz="2400" b="1">
                <a:solidFill>
                  <a:srgbClr val="FFB900"/>
                </a:solidFill>
                <a:latin typeface="Aptos"/>
              </a:defRPr>
            </a:pPr>
            <a:r>
              <a:rPr sz="2000" dirty="0"/>
              <a:t>POC</a:t>
            </a:r>
          </a:p>
        </p:txBody>
      </p:sp>
      <p:sp>
        <p:nvSpPr>
          <p:cNvPr id="48" name="TextBox 47"/>
          <p:cNvSpPr txBox="1"/>
          <p:nvPr/>
        </p:nvSpPr>
        <p:spPr>
          <a:xfrm>
            <a:off x="10405872" y="5376672"/>
            <a:ext cx="1196340" cy="369332"/>
          </a:xfrm>
          <a:prstGeom prst="rect">
            <a:avLst/>
          </a:prstGeom>
          <a:noFill/>
        </p:spPr>
        <p:txBody>
          <a:bodyPr wrap="square" lIns="0" tIns="0" rIns="0">
            <a:spAutoFit/>
          </a:bodyPr>
          <a:lstStyle/>
          <a:p>
            <a:pPr algn="ctr">
              <a:defRPr sz="819" b="0">
                <a:solidFill>
                  <a:srgbClr val="201F1E"/>
                </a:solidFill>
                <a:latin typeface="Aptos"/>
              </a:defRPr>
            </a:pPr>
            <a:r>
              <a:rPr sz="1050" dirty="0"/>
              <a:t>Feasible now, scalable later</a:t>
            </a:r>
          </a:p>
        </p:txBody>
      </p:sp>
      <p:sp>
        <p:nvSpPr>
          <p:cNvPr id="52" name="TextBox 51"/>
          <p:cNvSpPr txBox="1"/>
          <p:nvPr/>
        </p:nvSpPr>
        <p:spPr>
          <a:xfrm>
            <a:off x="11109960" y="6473952"/>
            <a:ext cx="502920" cy="156966"/>
          </a:xfrm>
          <a:prstGeom prst="rect">
            <a:avLst/>
          </a:prstGeom>
          <a:noFill/>
        </p:spPr>
        <p:txBody>
          <a:bodyPr wrap="square" lIns="0" tIns="0" rIns="0">
            <a:spAutoFit/>
          </a:bodyPr>
          <a:lstStyle/>
          <a:p>
            <a:pPr algn="r">
              <a:defRPr sz="720" b="0">
                <a:solidFill>
                  <a:srgbClr val="605E5C"/>
                </a:solidFill>
                <a:latin typeface="Aptos"/>
              </a:defRPr>
            </a:pPr>
            <a:r>
              <a:rPr lang="en-IN" dirty="0"/>
              <a:t>9</a:t>
            </a:r>
            <a:endParaRPr dirty="0"/>
          </a:p>
        </p:txBody>
      </p:sp>
      <p:sp>
        <p:nvSpPr>
          <p:cNvPr id="55" name="TextBox 54">
            <a:extLst>
              <a:ext uri="{FF2B5EF4-FFF2-40B4-BE49-F238E27FC236}">
                <a16:creationId xmlns:a16="http://schemas.microsoft.com/office/drawing/2014/main" id="{B2667475-081E-B787-B832-065275E8A7F3}"/>
              </a:ext>
            </a:extLst>
          </p:cNvPr>
          <p:cNvSpPr txBox="1"/>
          <p:nvPr/>
        </p:nvSpPr>
        <p:spPr>
          <a:xfrm>
            <a:off x="8778240" y="4987939"/>
            <a:ext cx="1536192" cy="338554"/>
          </a:xfrm>
          <a:prstGeom prst="rect">
            <a:avLst/>
          </a:prstGeom>
          <a:noFill/>
        </p:spPr>
        <p:txBody>
          <a:bodyPr wrap="square" rtlCol="0">
            <a:spAutoFit/>
          </a:bodyPr>
          <a:lstStyle/>
          <a:p>
            <a:r>
              <a:rPr lang="en-US" sz="1600" b="1" dirty="0">
                <a:solidFill>
                  <a:srgbClr val="107C10"/>
                </a:solidFill>
                <a:latin typeface="Aptos" panose="020B0004020202020204" pitchFamily="34" charset="0"/>
              </a:rPr>
              <a:t>End to End</a:t>
            </a:r>
            <a:endParaRPr lang="en-IN" sz="1600" b="1" dirty="0">
              <a:solidFill>
                <a:srgbClr val="107C10"/>
              </a:solidFill>
              <a:latin typeface="Aptos" panose="020B0004020202020204" pitchFamily="34" charset="0"/>
            </a:endParaRPr>
          </a:p>
        </p:txBody>
      </p:sp>
      <p:pic>
        <p:nvPicPr>
          <p:cNvPr id="50" name="Picture 4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730" y="719560"/>
            <a:ext cx="1235515" cy="428351"/>
          </a:xfrm>
          <a:prstGeom prst="rect">
            <a:avLst/>
          </a:prstGeom>
        </p:spPr>
      </p:pic>
      <p:sp>
        <p:nvSpPr>
          <p:cNvPr id="4" name="Footer Placeholder 3">
            <a:extLst>
              <a:ext uri="{FF2B5EF4-FFF2-40B4-BE49-F238E27FC236}">
                <a16:creationId xmlns:a16="http://schemas.microsoft.com/office/drawing/2014/main" id="{DFA45A26-74C4-889A-ED72-5EFDEF7CD594}"/>
              </a:ext>
            </a:extLst>
          </p:cNvPr>
          <p:cNvSpPr>
            <a:spLocks noGrp="1"/>
          </p:cNvSpPr>
          <p:nvPr>
            <p:ph type="ftr" sz="quarter" idx="11"/>
          </p:nvPr>
        </p:nvSpPr>
        <p:spPr>
          <a:xfrm>
            <a:off x="3124200" y="6499225"/>
            <a:ext cx="8162543" cy="365125"/>
          </a:xfrm>
        </p:spPr>
        <p:txBody>
          <a:bodyPr/>
          <a:lstStyle/>
          <a:p>
            <a:r>
              <a:rPr lang="en-US"/>
              <a:t>Nexa.ai | Microsoft Build AI | Theme 01: AI at Work — Productivity &amp; Teamwork Reimagined</a:t>
            </a:r>
          </a:p>
        </p:txBody>
      </p:sp>
    </p:spTree>
    <p:extLst>
      <p:ext uri="{BB962C8B-B14F-4D97-AF65-F5344CB8AC3E}">
        <p14:creationId xmlns:p14="http://schemas.microsoft.com/office/powerpoint/2010/main" val="32384187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69423"/>
            <a:ext cx="9509760" cy="477054"/>
          </a:xfrm>
          <a:prstGeom prst="rect">
            <a:avLst/>
          </a:prstGeom>
          <a:noFill/>
        </p:spPr>
        <p:txBody>
          <a:bodyPr wrap="square" lIns="0" tIns="0" rIns="0">
            <a:spAutoFit/>
          </a:bodyPr>
          <a:lstStyle/>
          <a:p>
            <a:pPr algn="l">
              <a:defRPr sz="2800" b="1">
                <a:solidFill>
                  <a:srgbClr val="201F1E"/>
                </a:solidFill>
                <a:latin typeface="Aptos"/>
              </a:defRPr>
            </a:pPr>
            <a:r>
              <a:rPr dirty="0"/>
              <a:t>Team Introduction</a:t>
            </a:r>
            <a:r>
              <a:rPr lang="en-IN" dirty="0"/>
              <a:t> and Live Prototype details</a:t>
            </a:r>
            <a:endParaRPr dirty="0"/>
          </a:p>
        </p:txBody>
      </p:sp>
      <p:sp>
        <p:nvSpPr>
          <p:cNvPr id="7" name="TextBox 6"/>
          <p:cNvSpPr txBox="1"/>
          <p:nvPr/>
        </p:nvSpPr>
        <p:spPr>
          <a:xfrm>
            <a:off x="530352" y="646477"/>
            <a:ext cx="10241280" cy="215444"/>
          </a:xfrm>
          <a:prstGeom prst="rect">
            <a:avLst/>
          </a:prstGeom>
          <a:noFill/>
        </p:spPr>
        <p:txBody>
          <a:bodyPr wrap="square" lIns="0" tIns="0" rIns="0">
            <a:spAutoFit/>
          </a:bodyPr>
          <a:lstStyle/>
          <a:p>
            <a:pPr>
              <a:defRPr sz="1100" b="0">
                <a:solidFill>
                  <a:srgbClr val="605E5C"/>
                </a:solidFill>
                <a:latin typeface="Aptos"/>
              </a:defRPr>
            </a:pPr>
            <a:r>
              <a:rPr lang="en-IN" sz="1100" dirty="0"/>
              <a:t>Nexa.ai was built by a focused two-member team: </a:t>
            </a:r>
            <a:r>
              <a:rPr lang="en-IN" sz="1100" b="1" dirty="0"/>
              <a:t>Biswambhar Pal</a:t>
            </a:r>
            <a:r>
              <a:rPr lang="en-IN" sz="1100" dirty="0"/>
              <a:t> and </a:t>
            </a:r>
            <a:r>
              <a:rPr lang="en-IN" sz="1100" b="1" dirty="0" err="1"/>
              <a:t>Owendrila</a:t>
            </a:r>
            <a:r>
              <a:rPr lang="en-IN" sz="1100" b="1" dirty="0"/>
              <a:t> Saha</a:t>
            </a:r>
            <a:r>
              <a:rPr lang="en-IN" sz="1100" dirty="0"/>
              <a:t>.</a:t>
            </a:r>
            <a:endParaRPr dirty="0"/>
          </a:p>
        </p:txBody>
      </p:sp>
      <p:sp>
        <p:nvSpPr>
          <p:cNvPr id="8" name="Rectangle: Rounded Corners 7"/>
          <p:cNvSpPr/>
          <p:nvPr/>
        </p:nvSpPr>
        <p:spPr>
          <a:xfrm>
            <a:off x="1796544" y="977296"/>
            <a:ext cx="3658708" cy="311446"/>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rPr lang="en-IN" dirty="0"/>
              <a:t>Biswambhar Pal</a:t>
            </a:r>
            <a:endParaRPr dirty="0"/>
          </a:p>
        </p:txBody>
      </p:sp>
      <p:sp>
        <p:nvSpPr>
          <p:cNvPr id="9" name="Rounded Rectangle 8"/>
          <p:cNvSpPr/>
          <p:nvPr/>
        </p:nvSpPr>
        <p:spPr>
          <a:xfrm>
            <a:off x="1545083" y="1361344"/>
            <a:ext cx="4480051" cy="1499848"/>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545083" y="1361344"/>
            <a:ext cx="4480051" cy="6400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709675" y="1525936"/>
            <a:ext cx="3957378" cy="230832"/>
          </a:xfrm>
          <a:prstGeom prst="rect">
            <a:avLst/>
          </a:prstGeom>
          <a:noFill/>
        </p:spPr>
        <p:txBody>
          <a:bodyPr wrap="square" lIns="0" tIns="0" rIns="0">
            <a:spAutoFit/>
          </a:bodyPr>
          <a:lstStyle/>
          <a:p>
            <a:pPr algn="ctr">
              <a:defRPr sz="1200" b="1">
                <a:solidFill>
                  <a:srgbClr val="201F1E"/>
                </a:solidFill>
                <a:latin typeface="Aptos"/>
              </a:defRPr>
            </a:pPr>
            <a:r>
              <a:rPr lang="en-US" dirty="0"/>
              <a:t>Solution Architect and AI Power Platform Lead</a:t>
            </a:r>
            <a:endParaRPr lang="en-IN" dirty="0"/>
          </a:p>
        </p:txBody>
      </p:sp>
      <p:sp>
        <p:nvSpPr>
          <p:cNvPr id="12" name="TextBox 11"/>
          <p:cNvSpPr txBox="1"/>
          <p:nvPr/>
        </p:nvSpPr>
        <p:spPr>
          <a:xfrm>
            <a:off x="1709675" y="1891696"/>
            <a:ext cx="3957378" cy="815608"/>
          </a:xfrm>
          <a:prstGeom prst="rect">
            <a:avLst/>
          </a:prstGeom>
          <a:noFill/>
        </p:spPr>
        <p:txBody>
          <a:bodyPr wrap="square" lIns="0" tIns="0" rIns="0">
            <a:spAutoFit/>
          </a:bodyPr>
          <a:lstStyle/>
          <a:p>
            <a:pPr marL="171450" indent="-171450" algn="l">
              <a:buFont typeface="Arial" panose="020B0604020202020204" pitchFamily="34" charset="0"/>
              <a:buChar char="•"/>
              <a:defRPr sz="1000" b="0">
                <a:solidFill>
                  <a:srgbClr val="605E5C"/>
                </a:solidFill>
                <a:latin typeface="Aptos"/>
              </a:defRPr>
            </a:pPr>
            <a:r>
              <a:rPr lang="en-US" dirty="0"/>
              <a:t>Defined the problem statement, solution scope, and product flow.</a:t>
            </a:r>
          </a:p>
          <a:p>
            <a:pPr marL="171450" indent="-171450" algn="l">
              <a:buFont typeface="Arial" panose="020B0604020202020204" pitchFamily="34" charset="0"/>
              <a:buChar char="•"/>
              <a:defRPr sz="1000" b="0">
                <a:solidFill>
                  <a:srgbClr val="605E5C"/>
                </a:solidFill>
                <a:latin typeface="Aptos"/>
              </a:defRPr>
            </a:pPr>
            <a:r>
              <a:rPr lang="en-US" dirty="0"/>
              <a:t>Built the Power Pages portal, Dataverse structure, and Power Automate orchestration.</a:t>
            </a:r>
          </a:p>
          <a:p>
            <a:pPr marL="171450" indent="-171450" algn="l">
              <a:buFont typeface="Arial" panose="020B0604020202020204" pitchFamily="34" charset="0"/>
              <a:buChar char="•"/>
              <a:defRPr sz="1000" b="0">
                <a:solidFill>
                  <a:srgbClr val="605E5C"/>
                </a:solidFill>
                <a:latin typeface="Aptos"/>
              </a:defRPr>
            </a:pPr>
            <a:r>
              <a:rPr lang="en-US" dirty="0"/>
              <a:t>Managed lookup relationships, approval flow, pipeline tracking, and demo preparation.</a:t>
            </a:r>
            <a:endParaRPr dirty="0"/>
          </a:p>
        </p:txBody>
      </p:sp>
      <p:sp>
        <p:nvSpPr>
          <p:cNvPr id="13" name="Rectangle: Rounded Corners 12"/>
          <p:cNvSpPr/>
          <p:nvPr/>
        </p:nvSpPr>
        <p:spPr>
          <a:xfrm>
            <a:off x="6975349" y="992324"/>
            <a:ext cx="3584041" cy="295868"/>
          </a:xfrm>
          <a:prstGeom prst="round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rPr lang="en-IN" dirty="0" err="1"/>
              <a:t>Owendrila</a:t>
            </a:r>
            <a:r>
              <a:rPr lang="en-IN" dirty="0"/>
              <a:t> Saha</a:t>
            </a:r>
            <a:endParaRPr dirty="0"/>
          </a:p>
        </p:txBody>
      </p:sp>
      <p:sp>
        <p:nvSpPr>
          <p:cNvPr id="14" name="Rounded Rectangle 13"/>
          <p:cNvSpPr/>
          <p:nvPr/>
        </p:nvSpPr>
        <p:spPr>
          <a:xfrm>
            <a:off x="6629909" y="1361344"/>
            <a:ext cx="4480051" cy="1499848"/>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629909" y="1361344"/>
            <a:ext cx="4480051" cy="64008"/>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94501" y="1525936"/>
            <a:ext cx="3957379" cy="230832"/>
          </a:xfrm>
          <a:prstGeom prst="rect">
            <a:avLst/>
          </a:prstGeom>
          <a:noFill/>
        </p:spPr>
        <p:txBody>
          <a:bodyPr wrap="square" lIns="0" tIns="0" rIns="0">
            <a:spAutoFit/>
          </a:bodyPr>
          <a:lstStyle/>
          <a:p>
            <a:pPr algn="ctr">
              <a:defRPr sz="1200" b="1">
                <a:solidFill>
                  <a:srgbClr val="201F1E"/>
                </a:solidFill>
                <a:latin typeface="Aptos"/>
              </a:defRPr>
            </a:pPr>
            <a:r>
              <a:rPr lang="en-US" dirty="0"/>
              <a:t>AI Experience and Product Strategy Lead</a:t>
            </a:r>
            <a:endParaRPr dirty="0"/>
          </a:p>
        </p:txBody>
      </p:sp>
      <p:sp>
        <p:nvSpPr>
          <p:cNvPr id="17" name="TextBox 16"/>
          <p:cNvSpPr txBox="1"/>
          <p:nvPr/>
        </p:nvSpPr>
        <p:spPr>
          <a:xfrm>
            <a:off x="6794501" y="1891696"/>
            <a:ext cx="3957379" cy="969496"/>
          </a:xfrm>
          <a:prstGeom prst="rect">
            <a:avLst/>
          </a:prstGeom>
          <a:noFill/>
        </p:spPr>
        <p:txBody>
          <a:bodyPr wrap="square" lIns="0" tIns="0" rIns="0">
            <a:spAutoFit/>
          </a:bodyPr>
          <a:lstStyle/>
          <a:p>
            <a:pPr marL="171450" indent="-171450" algn="l">
              <a:buFont typeface="Arial" panose="020B0604020202020204" pitchFamily="34" charset="0"/>
              <a:buChar char="•"/>
              <a:defRPr sz="1000" b="0">
                <a:solidFill>
                  <a:srgbClr val="605E5C"/>
                </a:solidFill>
                <a:latin typeface="Aptos"/>
              </a:defRPr>
            </a:pPr>
            <a:r>
              <a:rPr lang="en-US" dirty="0"/>
              <a:t>Designed AI prompt flows for transcript analysis and artifact generation.</a:t>
            </a:r>
          </a:p>
          <a:p>
            <a:pPr marL="171450" indent="-171450" algn="l">
              <a:buFont typeface="Arial" panose="020B0604020202020204" pitchFamily="34" charset="0"/>
              <a:buChar char="•"/>
              <a:defRPr sz="1000" b="0">
                <a:solidFill>
                  <a:srgbClr val="605E5C"/>
                </a:solidFill>
                <a:latin typeface="Aptos"/>
              </a:defRPr>
            </a:pPr>
            <a:r>
              <a:rPr lang="en-US" dirty="0"/>
              <a:t>Supported the portal user experience across dashboard, project, pipeline, approvals, and admin screens.</a:t>
            </a:r>
          </a:p>
          <a:p>
            <a:pPr marL="171450" indent="-171450" algn="l">
              <a:buFont typeface="Arial" panose="020B0604020202020204" pitchFamily="34" charset="0"/>
              <a:buChar char="•"/>
              <a:defRPr sz="1000" b="0">
                <a:solidFill>
                  <a:srgbClr val="605E5C"/>
                </a:solidFill>
                <a:latin typeface="Aptos"/>
              </a:defRPr>
            </a:pPr>
            <a:r>
              <a:rPr lang="en-US" dirty="0"/>
              <a:t>Tested generated outputs, validation logic, and end-to-end demo readiness.</a:t>
            </a:r>
            <a:endParaRPr dirty="0"/>
          </a:p>
        </p:txBody>
      </p:sp>
      <p:sp>
        <p:nvSpPr>
          <p:cNvPr id="18" name="Rectangle: Diagonal Corners Rounded 17"/>
          <p:cNvSpPr/>
          <p:nvPr/>
        </p:nvSpPr>
        <p:spPr>
          <a:xfrm>
            <a:off x="4292050" y="3030829"/>
            <a:ext cx="4067474" cy="320281"/>
          </a:xfrm>
          <a:prstGeom prst="round2DiagRect">
            <a:avLst>
              <a:gd name="adj1" fmla="val 50000"/>
              <a:gd name="adj2" fmla="val 0"/>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rPr lang="en-IN" dirty="0"/>
              <a:t>Prototype Details</a:t>
            </a:r>
            <a:endParaRPr dirty="0"/>
          </a:p>
        </p:txBody>
      </p:sp>
      <p:sp>
        <p:nvSpPr>
          <p:cNvPr id="19" name="Rounded Rectangle 18"/>
          <p:cNvSpPr/>
          <p:nvPr/>
        </p:nvSpPr>
        <p:spPr>
          <a:xfrm>
            <a:off x="3208332" y="3443498"/>
            <a:ext cx="6080865" cy="1888566"/>
          </a:xfrm>
          <a:prstGeom prst="roundRect">
            <a:avLst/>
          </a:prstGeom>
          <a:solidFill>
            <a:srgbClr val="FFFFFF"/>
          </a:solidFill>
          <a:ln w="12700">
            <a:solidFill>
              <a:srgbClr val="E1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208332" y="3443498"/>
            <a:ext cx="6080865" cy="61989"/>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372924" y="3608090"/>
            <a:ext cx="5371431" cy="292388"/>
          </a:xfrm>
          <a:prstGeom prst="rect">
            <a:avLst/>
          </a:prstGeom>
          <a:noFill/>
        </p:spPr>
        <p:txBody>
          <a:bodyPr wrap="square" lIns="0" tIns="0" rIns="0">
            <a:spAutoFit/>
          </a:bodyPr>
          <a:lstStyle/>
          <a:p>
            <a:pPr algn="ctr">
              <a:defRPr sz="1200" b="1">
                <a:solidFill>
                  <a:srgbClr val="201F1E"/>
                </a:solidFill>
                <a:latin typeface="Aptos"/>
              </a:defRPr>
            </a:pPr>
            <a:r>
              <a:rPr lang="en-IN" sz="1600" dirty="0"/>
              <a:t>Nexa.ai</a:t>
            </a:r>
            <a:endParaRPr sz="1600" dirty="0"/>
          </a:p>
        </p:txBody>
      </p:sp>
      <p:sp>
        <p:nvSpPr>
          <p:cNvPr id="22" name="TextBox 21"/>
          <p:cNvSpPr txBox="1"/>
          <p:nvPr/>
        </p:nvSpPr>
        <p:spPr>
          <a:xfrm>
            <a:off x="3615738" y="3925374"/>
            <a:ext cx="5604857" cy="1154162"/>
          </a:xfrm>
          <a:prstGeom prst="rect">
            <a:avLst/>
          </a:prstGeom>
          <a:noFill/>
        </p:spPr>
        <p:txBody>
          <a:bodyPr wrap="square" lIns="0" tIns="0" rIns="0">
            <a:spAutoFit/>
          </a:bodyPr>
          <a:lstStyle/>
          <a:p>
            <a:r>
              <a:rPr lang="en-IN" sz="1200" dirty="0"/>
              <a:t>Product URL : </a:t>
            </a:r>
            <a:r>
              <a:rPr lang="en-IN" sz="1200" dirty="0">
                <a:hlinkClick r:id="rId3"/>
              </a:rPr>
              <a:t>https://nexa-ai-enterprise-portal.powerappsportals.com/</a:t>
            </a:r>
            <a:endParaRPr lang="en-IN" sz="1200" dirty="0"/>
          </a:p>
          <a:p>
            <a:r>
              <a:rPr lang="en-IN" sz="1200" dirty="0"/>
              <a:t>Demo URL : </a:t>
            </a:r>
            <a:r>
              <a:rPr lang="en-IN" sz="1200" dirty="0">
                <a:hlinkClick r:id="rId4"/>
              </a:rPr>
              <a:t>https://youtu.be/9KQd5s89tso</a:t>
            </a:r>
            <a:endParaRPr lang="en-IN" sz="1200" dirty="0"/>
          </a:p>
          <a:p>
            <a:r>
              <a:rPr lang="en-IN" sz="1200" dirty="0"/>
              <a:t>GitHub URL : </a:t>
            </a:r>
            <a:r>
              <a:rPr lang="en-IN" sz="1200" dirty="0">
                <a:hlinkClick r:id="rId5"/>
              </a:rPr>
              <a:t>https://github.com/Biswambhar-Pal/nexa-ai</a:t>
            </a:r>
            <a:endParaRPr lang="en-IN" sz="1200" dirty="0"/>
          </a:p>
          <a:p>
            <a:endParaRPr lang="en-IN" sz="1200" dirty="0"/>
          </a:p>
          <a:p>
            <a:r>
              <a:rPr lang="en-IN" sz="1200" b="1" dirty="0"/>
              <a:t>Note: </a:t>
            </a:r>
            <a:r>
              <a:rPr lang="en-IN" sz="1200" dirty="0"/>
              <a:t>Product Login credentials are shared only through the official hackathon submission channel for security reasons.</a:t>
            </a:r>
          </a:p>
        </p:txBody>
      </p:sp>
      <p:sp>
        <p:nvSpPr>
          <p:cNvPr id="25" name="TextBox 24"/>
          <p:cNvSpPr txBox="1"/>
          <p:nvPr/>
        </p:nvSpPr>
        <p:spPr>
          <a:xfrm>
            <a:off x="11384280" y="6547104"/>
            <a:ext cx="320040" cy="164592"/>
          </a:xfrm>
          <a:prstGeom prst="rect">
            <a:avLst/>
          </a:prstGeom>
          <a:noFill/>
        </p:spPr>
        <p:txBody>
          <a:bodyPr wrap="square" lIns="0" tIns="0" rIns="0">
            <a:spAutoFit/>
          </a:bodyPr>
          <a:lstStyle/>
          <a:p>
            <a:pPr algn="r">
              <a:defRPr sz="750" b="0">
                <a:solidFill>
                  <a:srgbClr val="605E5C"/>
                </a:solidFill>
                <a:latin typeface="Aptos"/>
              </a:defRPr>
            </a:pPr>
            <a:r>
              <a:t>9</a:t>
            </a:r>
          </a:p>
        </p:txBody>
      </p:sp>
      <p:sp>
        <p:nvSpPr>
          <p:cNvPr id="26" name="Footer Placeholder 25">
            <a:extLst>
              <a:ext uri="{FF2B5EF4-FFF2-40B4-BE49-F238E27FC236}">
                <a16:creationId xmlns:a16="http://schemas.microsoft.com/office/drawing/2014/main" id="{021141AA-2888-8CA6-4230-91387708EC77}"/>
              </a:ext>
            </a:extLst>
          </p:cNvPr>
          <p:cNvSpPr>
            <a:spLocks noGrp="1"/>
          </p:cNvSpPr>
          <p:nvPr>
            <p:ph type="ftr" sz="quarter" idx="11"/>
          </p:nvPr>
        </p:nvSpPr>
        <p:spPr>
          <a:xfrm>
            <a:off x="3124200" y="6478270"/>
            <a:ext cx="6497320" cy="365125"/>
          </a:xfrm>
        </p:spPr>
        <p:txBody>
          <a:bodyPr/>
          <a:lstStyle/>
          <a:p>
            <a:r>
              <a:rPr lang="en-US"/>
              <a:t>Nexa.ai | Microsoft Build AI | Theme 01: AI at Work — Productivity &amp; Teamwork Reimagined</a:t>
            </a:r>
          </a:p>
        </p:txBody>
      </p:sp>
      <p:sp>
        <p:nvSpPr>
          <p:cNvPr id="28" name="Rectangle: Rounded Corners 27">
            <a:extLst>
              <a:ext uri="{FF2B5EF4-FFF2-40B4-BE49-F238E27FC236}">
                <a16:creationId xmlns:a16="http://schemas.microsoft.com/office/drawing/2014/main" id="{4EF0D573-0A00-D463-9FD1-7813579E3B39}"/>
              </a:ext>
            </a:extLst>
          </p:cNvPr>
          <p:cNvSpPr/>
          <p:nvPr/>
        </p:nvSpPr>
        <p:spPr>
          <a:xfrm>
            <a:off x="0" y="5751951"/>
            <a:ext cx="12192000" cy="477054"/>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rPr lang="en-IN" sz="1600" dirty="0"/>
              <a:t>Thank You</a:t>
            </a:r>
            <a:endParaRPr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416</TotalTime>
  <Words>1530</Words>
  <Application>Microsoft Office PowerPoint</Application>
  <PresentationFormat>Widescreen</PresentationFormat>
  <Paragraphs>214</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Owendrila Saha</dc:creator>
  <cp:keywords/>
  <dc:description>generated using python-pptx</dc:description>
  <cp:lastModifiedBy>13000319047</cp:lastModifiedBy>
  <cp:revision>33</cp:revision>
  <dcterms:created xsi:type="dcterms:W3CDTF">2013-01-27T09:14:16Z</dcterms:created>
  <dcterms:modified xsi:type="dcterms:W3CDTF">2026-06-13T09:26:47Z</dcterms:modified>
  <cp:category/>
</cp:coreProperties>
</file>